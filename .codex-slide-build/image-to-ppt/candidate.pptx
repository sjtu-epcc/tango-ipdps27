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b9af9f63a41e2" /><Relationship Type="http://schemas.openxmlformats.org/officeDocument/2006/relationships/extended-properties" Target="/docProps/app.xml" Id="R1e8c5ca42d1141b5" /><Relationship Type="http://schemas.openxmlformats.org/officeDocument/2006/relationships/officeDocument" Target="/ppt/presentation.xml" Id="Re5b0fddaf13e44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aff72bdd80402c"/>
  </p:sldMasterIdLst>
  <p:notesMasterIdLst>
    <p:notesMasterId xmlns:r="http://schemas.openxmlformats.org/officeDocument/2006/relationships" r:id="Rf6adf584b8224e42"/>
  </p:notesMasterIdLst>
  <p:sldIdLst>
    <p:sldId xmlns:r="http://schemas.openxmlformats.org/officeDocument/2006/relationships" id="256" r:id="R5c50598d5e314778"/>
  </p:sldIdLst>
  <p:sldSz cx="19507200" cy="10896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897ebfdde44ee1" /><Relationship Type="http://schemas.openxmlformats.org/officeDocument/2006/relationships/slideMaster" Target="/ppt/slideMasters/slideMaster1.xml" Id="R93aff72bdd80402c" /><Relationship Type="http://schemas.openxmlformats.org/officeDocument/2006/relationships/notesMaster" Target="/ppt/notesMasters/notesMaster1.xml" Id="Rf6adf584b8224e42" /><Relationship Type="http://schemas.openxmlformats.org/officeDocument/2006/relationships/presProps" Target="/ppt/presProps.xml" Id="R57518e82af454f6f" /><Relationship Type="http://schemas.openxmlformats.org/officeDocument/2006/relationships/tableStyles" Target="/ppt/tableStyles.xml" Id="Ra758b6cdc9ca4ba0" /><Relationship Type="http://schemas.openxmlformats.org/officeDocument/2006/relationships/slide" Target="/ppt/slides/slide1.xml" Id="R5c50598d5e31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5397491eb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7d2b34a6d74b93" /><Relationship Type="http://schemas.openxmlformats.org/officeDocument/2006/relationships/notesMaster" Target="/ppt/notesMasters/notesMaster1.xml" Id="Rceaa9e441449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scheduling diagram image. Original English labels and illustrative values reproduced. Diagram shapes, text, timelines, and bars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95ddb427944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4d78167c9e46b5" /><Relationship Type="http://schemas.openxmlformats.org/officeDocument/2006/relationships/slideLayout" Target="/ppt/slideLayouts/slideLayout1.xml" Id="R1189281582354f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9281582354f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bf2df8de84389" /><Relationship Type="http://schemas.openxmlformats.org/officeDocument/2006/relationships/notesSlide" Target="/ppt/notesSlides/notesSlide1.xml" Id="R8cf9a31482c4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line-1">
            <a:extLst xmlns:a="http://schemas.openxmlformats.org/drawingml/2006/main">
              <a:ext uri="{FF2B5EF4-FFF2-40B4-BE49-F238E27FC236}">
                <a16:creationId xmlns:a16="http://schemas.microsoft.com/office/drawing/2014/main" id="{6C3521B7-261A-4030-9BEC-A1C1C442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0" y="41148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2" name="line-2">
            <a:extLst xmlns:a="http://schemas.openxmlformats.org/drawingml/2006/main">
              <a:ext uri="{FF2B5EF4-FFF2-40B4-BE49-F238E27FC236}">
                <a16:creationId xmlns:a16="http://schemas.microsoft.com/office/drawing/2014/main" id="{2D6A7CA3-3FA5-47D2-BD94-A284F54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0" y="581025"/>
            <a:ext cx="9525" cy="3533775"/>
          </a:xfrm>
          <a:custGeom xmlns:a="http://schemas.openxmlformats.org/drawingml/2006/main">
            <a:pathLst>
              <a:path w="9525" h="3533775">
                <a:moveTo>
                  <a:pt x="0" y="3533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3" name="line-3">
            <a:extLst xmlns:a="http://schemas.openxmlformats.org/drawingml/2006/main">
              <a:ext uri="{FF2B5EF4-FFF2-40B4-BE49-F238E27FC236}">
                <a16:creationId xmlns:a16="http://schemas.microsoft.com/office/drawing/2014/main" id="{2C7A8014-64C1-48D8-8F58-A26142E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1025"/>
            <a:ext cx="12982575" cy="9525"/>
          </a:xfrm>
          <a:custGeom xmlns:a="http://schemas.openxmlformats.org/drawingml/2006/main">
            <a:pathLst>
              <a:path w="12982575" h="9525">
                <a:moveTo>
                  <a:pt x="12982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4" name="Next step stem">
            <a:extLst xmlns:a="http://schemas.openxmlformats.org/drawingml/2006/main">
              <a:ext uri="{FF2B5EF4-FFF2-40B4-BE49-F238E27FC236}">
                <a16:creationId xmlns:a16="http://schemas.microsoft.com/office/drawing/2014/main" id="{2CBDC775-0E22-4E5A-A342-0717A2F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1025"/>
            <a:ext cx="9525" cy="214789"/>
          </a:xfrm>
          <a:custGeom xmlns:a="http://schemas.openxmlformats.org/drawingml/2006/main">
            <a:pathLst>
              <a:path w="9525" h="214789">
                <a:moveTo>
                  <a:pt x="0" y="0"/>
                </a:moveTo>
                <a:lnTo>
                  <a:pt x="0" y="214789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5" name="Next step arrowhead">
            <a:extLst xmlns:a="http://schemas.openxmlformats.org/drawingml/2006/main">
              <a:ext uri="{FF2B5EF4-FFF2-40B4-BE49-F238E27FC236}">
                <a16:creationId xmlns:a16="http://schemas.microsoft.com/office/drawing/2014/main" id="{7859D040-A0B5-4494-91CB-2D596F2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63" y="795814"/>
            <a:ext cx="196825" cy="175736"/>
          </a:xfrm>
          <a:custGeom xmlns:a="http://schemas.openxmlformats.org/drawingml/2006/main">
            <a:pathLst>
              <a:path w="196825" h="175736">
                <a:moveTo>
                  <a:pt x="98412" y="175736"/>
                </a:moveTo>
                <a:lnTo>
                  <a:pt x="0" y="0"/>
                </a:lnTo>
                <a:lnTo>
                  <a:pt x="196825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6" name="Next step">
            <a:extLst xmlns:a="http://schemas.openxmlformats.org/drawingml/2006/main">
              <a:ext uri="{FF2B5EF4-FFF2-40B4-BE49-F238E27FC236}">
                <a16:creationId xmlns:a16="http://schemas.microsoft.com/office/drawing/2014/main" id="{C67DC557-7A70-4EB2-AF9F-93ABA00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8572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Next step</a:t>
            </a:r>
          </a:p>
        </p:txBody>
      </p:sp>
      <p:sp>
        <p:nvSpPr>
          <p:cNvPr id="7" name="Requests to temporal scheduling stem">
            <a:extLst xmlns:a="http://schemas.openxmlformats.org/drawingml/2006/main">
              <a:ext uri="{FF2B5EF4-FFF2-40B4-BE49-F238E27FC236}">
                <a16:creationId xmlns:a16="http://schemas.microsoft.com/office/drawing/2014/main" id="{4488F7D6-AB77-4A35-BA3A-0121B1B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86050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8" name="Requests to temporal scheduling arrowhead">
            <a:extLst xmlns:a="http://schemas.openxmlformats.org/drawingml/2006/main">
              <a:ext uri="{FF2B5EF4-FFF2-40B4-BE49-F238E27FC236}">
                <a16:creationId xmlns:a16="http://schemas.microsoft.com/office/drawing/2014/main" id="{A8CF8955-587E-4CFB-A515-8A91A14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038"/>
            <a:ext cx="171450" cy="192024"/>
          </a:xfrm>
          <a:custGeom xmlns:a="http://schemas.openxmlformats.org/drawingml/2006/main">
            <a:pathLst>
              <a:path w="171450" h="192024">
                <a:moveTo>
                  <a:pt x="171450" y="96012"/>
                </a:move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9" name="Selected requests stem">
            <a:extLst xmlns:a="http://schemas.openxmlformats.org/drawingml/2006/main">
              <a:ext uri="{FF2B5EF4-FFF2-40B4-BE49-F238E27FC236}">
                <a16:creationId xmlns:a16="http://schemas.microsoft.com/office/drawing/2014/main" id="{7EBD29C6-A8ED-406E-88B4-CF1CBCFE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0" name="Selected requests arrowhead">
            <a:extLst xmlns:a="http://schemas.openxmlformats.org/drawingml/2006/main">
              <a:ext uri="{FF2B5EF4-FFF2-40B4-BE49-F238E27FC236}">
                <a16:creationId xmlns:a16="http://schemas.microsoft.com/office/drawing/2014/main" id="{D62C0FAF-504B-4076-8985-96CDB14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9370"/>
            <a:ext cx="190500" cy="213360"/>
          </a:xfrm>
          <a:custGeom xmlns:a="http://schemas.openxmlformats.org/drawingml/2006/main">
            <a:pathLst>
              <a:path w="190500" h="213360">
                <a:moveTo>
                  <a:pt x="190500" y="106680"/>
                </a:moveTo>
                <a:lnTo>
                  <a:pt x="0" y="2133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3B4250FC-E078-4CDE-B513-ACB8B17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2892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Selected</a:t>
            </a:r>
          </a:p>
        </p:txBody>
      </p:sp>
      <p:sp>
        <p:nvSpPr>
          <p:cNvPr id="12" name="requests">
            <a:extLst xmlns:a="http://schemas.openxmlformats.org/drawingml/2006/main">
              <a:ext uri="{FF2B5EF4-FFF2-40B4-BE49-F238E27FC236}">
                <a16:creationId xmlns:a16="http://schemas.microsoft.com/office/drawing/2014/main" id="{4064236E-D9EE-40C1-AC7D-4F4CAD6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05150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requests</a:t>
            </a:r>
          </a:p>
        </p:txBody>
      </p:sp>
      <p:sp>
        <p:nvSpPr>
          <p:cNvPr id="13" name="Mixed batch stem">
            <a:extLst xmlns:a="http://schemas.openxmlformats.org/drawingml/2006/main">
              <a:ext uri="{FF2B5EF4-FFF2-40B4-BE49-F238E27FC236}">
                <a16:creationId xmlns:a16="http://schemas.microsoft.com/office/drawing/2014/main" id="{D99CBF61-0BF2-4EF6-9253-2476F2B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26860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4" name="Mixed batch arrowhead">
            <a:extLst xmlns:a="http://schemas.openxmlformats.org/drawingml/2006/main">
              <a:ext uri="{FF2B5EF4-FFF2-40B4-BE49-F238E27FC236}">
                <a16:creationId xmlns:a16="http://schemas.microsoft.com/office/drawing/2014/main" id="{EB246431-7590-4E18-8303-05BC2695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584704"/>
            <a:ext cx="180975" cy="202692"/>
          </a:xfrm>
          <a:custGeom xmlns:a="http://schemas.openxmlformats.org/drawingml/2006/main">
            <a:pathLst>
              <a:path w="180975" h="202692">
                <a:moveTo>
                  <a:pt x="180975" y="101346"/>
                </a:moveTo>
                <a:lnTo>
                  <a:pt x="0" y="202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5" name="Mixed">
            <a:extLst xmlns:a="http://schemas.openxmlformats.org/drawingml/2006/main">
              <a:ext uri="{FF2B5EF4-FFF2-40B4-BE49-F238E27FC236}">
                <a16:creationId xmlns:a16="http://schemas.microsoft.com/office/drawing/2014/main" id="{88BB4314-BCC6-40B7-814B-756FA54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2838450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Mixed</a:t>
            </a:r>
          </a:p>
        </p:txBody>
      </p:sp>
      <p:sp>
        <p:nvSpPr>
          <p:cNvPr id="16" name="batch">
            <a:extLst xmlns:a="http://schemas.openxmlformats.org/drawingml/2006/main">
              <a:ext uri="{FF2B5EF4-FFF2-40B4-BE49-F238E27FC236}">
                <a16:creationId xmlns:a16="http://schemas.microsoft.com/office/drawing/2014/main" id="{E78E9D99-6776-455C-BD77-0D14AC14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3124200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batch</a:t>
            </a:r>
          </a:p>
        </p:txBody>
      </p:sp>
      <p:sp>
        <p:nvSpPr>
          <p:cNvPr id="17" name="Execute to update stem">
            <a:extLst xmlns:a="http://schemas.openxmlformats.org/drawingml/2006/main">
              <a:ext uri="{FF2B5EF4-FFF2-40B4-BE49-F238E27FC236}">
                <a16:creationId xmlns:a16="http://schemas.microsoft.com/office/drawing/2014/main" id="{DE8E300D-66F2-413D-9A29-81022525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2675" y="3362325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8" name="Execute to update arrowhead">
            <a:extLst xmlns:a="http://schemas.openxmlformats.org/drawingml/2006/main">
              <a:ext uri="{FF2B5EF4-FFF2-40B4-BE49-F238E27FC236}">
                <a16:creationId xmlns:a16="http://schemas.microsoft.com/office/drawing/2014/main" id="{E8C02352-5D14-427C-A55A-2F443A22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329" y="3590925"/>
            <a:ext cx="202692" cy="180975"/>
          </a:xfrm>
          <a:custGeom xmlns:a="http://schemas.openxmlformats.org/drawingml/2006/main">
            <a:pathLst>
              <a:path w="202692" h="180975">
                <a:moveTo>
                  <a:pt x="101346" y="180975"/>
                </a:moveTo>
                <a:lnTo>
                  <a:pt x="0" y="0"/>
                </a:lnTo>
                <a:lnTo>
                  <a:pt x="202692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9" name="Requests">
            <a:extLst xmlns:a="http://schemas.openxmlformats.org/drawingml/2006/main">
              <a:ext uri="{FF2B5EF4-FFF2-40B4-BE49-F238E27FC236}">
                <a16:creationId xmlns:a16="http://schemas.microsoft.com/office/drawing/2014/main" id="{0346749B-F8A3-4275-BCA0-84C577D4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3667125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0" name="rect-4">
            <a:extLst xmlns:a="http://schemas.openxmlformats.org/drawingml/2006/main">
              <a:ext uri="{FF2B5EF4-FFF2-40B4-BE49-F238E27FC236}">
                <a16:creationId xmlns:a16="http://schemas.microsoft.com/office/drawing/2014/main" id="{225B796F-4782-4BD9-822B-2BBAEFB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3667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21" name="Requests">
            <a:extLst xmlns:a="http://schemas.openxmlformats.org/drawingml/2006/main">
              <a:ext uri="{FF2B5EF4-FFF2-40B4-BE49-F238E27FC236}">
                <a16:creationId xmlns:a16="http://schemas.microsoft.com/office/drawing/2014/main" id="{BEFA10B4-4972-45C7-9636-FE1A995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981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Requests</a:t>
            </a:r>
          </a:p>
        </p:txBody>
      </p:sp>
      <p:sp>
        <p:nvSpPr>
          <p:cNvPr id="22" name="Running">
            <a:extLst xmlns:a="http://schemas.openxmlformats.org/drawingml/2006/main">
              <a:ext uri="{FF2B5EF4-FFF2-40B4-BE49-F238E27FC236}">
                <a16:creationId xmlns:a16="http://schemas.microsoft.com/office/drawing/2014/main" id="{07562755-16E1-44AB-8DCA-64D4E89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52675"/>
            <a:ext cx="1743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23" name="Ongoing decode">
            <a:extLst xmlns:a="http://schemas.openxmlformats.org/drawingml/2006/main">
              <a:ext uri="{FF2B5EF4-FFF2-40B4-BE49-F238E27FC236}">
                <a16:creationId xmlns:a16="http://schemas.microsoft.com/office/drawing/2014/main" id="{140CB099-B817-4C01-AE2B-0CB725AF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57475"/>
            <a:ext cx="2152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Ongoing decode</a:t>
            </a:r>
          </a:p>
        </p:txBody>
      </p:sp>
      <p:sp>
        <p:nvSpPr>
          <p:cNvPr id="24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6848AF8A-3587-4651-B581-1E09891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762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417D74"/>
            </a:solidFill>
            <a:prstDash val="solid"/>
          </a:ln>
        </p:spPr>
      </p:sp>
      <p:sp>
        <p:nvSpPr>
          <p:cNvPr id="25" name="D">
            <a:extLst xmlns:a="http://schemas.openxmlformats.org/drawingml/2006/main">
              <a:ext uri="{FF2B5EF4-FFF2-40B4-BE49-F238E27FC236}">
                <a16:creationId xmlns:a16="http://schemas.microsoft.com/office/drawing/2014/main" id="{C17BF862-ED23-4CE4-BC1A-52DAC26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907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6" name="line-5">
            <a:extLst xmlns:a="http://schemas.openxmlformats.org/drawingml/2006/main">
              <a:ext uri="{FF2B5EF4-FFF2-40B4-BE49-F238E27FC236}">
                <a16:creationId xmlns:a16="http://schemas.microsoft.com/office/drawing/2014/main" id="{31D5EDD0-371F-4CD6-8A25-037F5C40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67050"/>
            <a:ext cx="3524250" cy="9525"/>
          </a:xfrm>
          <a:custGeom xmlns:a="http://schemas.openxmlformats.org/drawingml/2006/main"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C7C7C"/>
            </a:solidFill>
            <a:prstDash val="dash"/>
          </a:ln>
        </p:spPr>
      </p:sp>
      <p:sp>
        <p:nvSpPr>
          <p:cNvPr id="27" name="Waiting">
            <a:extLst xmlns:a="http://schemas.openxmlformats.org/drawingml/2006/main">
              <a:ext uri="{FF2B5EF4-FFF2-40B4-BE49-F238E27FC236}">
                <a16:creationId xmlns:a16="http://schemas.microsoft.com/office/drawing/2014/main" id="{0EC7A0DC-3EC5-463F-BDCF-E6AB0F4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48025"/>
            <a:ext cx="1562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Waiting</a:t>
            </a:r>
          </a:p>
        </p:txBody>
      </p:sp>
      <p:sp>
        <p:nvSpPr>
          <p:cNvPr id="28" name="New / resumed">
            <a:extLst xmlns:a="http://schemas.openxmlformats.org/drawingml/2006/main">
              <a:ext uri="{FF2B5EF4-FFF2-40B4-BE49-F238E27FC236}">
                <a16:creationId xmlns:a16="http://schemas.microsoft.com/office/drawing/2014/main" id="{F52AD168-8EB6-4B38-92B7-FB174008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43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New / resumed</a:t>
            </a:r>
          </a:p>
        </p:txBody>
      </p:sp>
      <p:sp>
        <p:nvSpPr>
          <p:cNvPr id="29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D817330C-12CF-4026-9EF4-BDD7AEAD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781050" cy="5429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30" name="R1">
            <a:extLst xmlns:a="http://schemas.openxmlformats.org/drawingml/2006/main">
              <a:ext uri="{FF2B5EF4-FFF2-40B4-BE49-F238E27FC236}">
                <a16:creationId xmlns:a16="http://schemas.microsoft.com/office/drawing/2014/main" id="{3CC47234-1A2E-46FA-90C9-FB633D0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194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31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235C8C0C-AE96-4A17-B298-599B0AC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9925"/>
            <a:ext cx="781050" cy="5429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32" name="R2">
            <a:extLst xmlns:a="http://schemas.openxmlformats.org/drawingml/2006/main">
              <a:ext uri="{FF2B5EF4-FFF2-40B4-BE49-F238E27FC236}">
                <a16:creationId xmlns:a16="http://schemas.microsoft.com/office/drawing/2014/main" id="{CD4BFFCB-E4D1-40C8-AE1E-D695617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194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33" name="Temporal scheduling">
            <a:extLst xmlns:a="http://schemas.openxmlformats.org/drawingml/2006/main">
              <a:ext uri="{FF2B5EF4-FFF2-40B4-BE49-F238E27FC236}">
                <a16:creationId xmlns:a16="http://schemas.microsoft.com/office/drawing/2014/main" id="{220C7974-0159-4557-A20A-3216289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71550"/>
            <a:ext cx="51435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4" name="rect-6">
            <a:extLst xmlns:a="http://schemas.openxmlformats.org/drawingml/2006/main">
              <a:ext uri="{FF2B5EF4-FFF2-40B4-BE49-F238E27FC236}">
                <a16:creationId xmlns:a16="http://schemas.microsoft.com/office/drawing/2014/main" id="{F8E61DE1-48AC-49C4-AB26-ACFDDA2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715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35" name="Step 1">
            <a:extLst xmlns:a="http://schemas.openxmlformats.org/drawingml/2006/main">
              <a:ext uri="{FF2B5EF4-FFF2-40B4-BE49-F238E27FC236}">
                <a16:creationId xmlns:a16="http://schemas.microsoft.com/office/drawing/2014/main" id="{1CADC4BC-8EC2-45D1-A273-42C4C28A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38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1">
            <a:extLst xmlns:a="http://schemas.openxmlformats.org/drawingml/2006/main">
              <a:ext uri="{FF2B5EF4-FFF2-40B4-BE49-F238E27FC236}">
                <a16:creationId xmlns:a16="http://schemas.microsoft.com/office/drawing/2014/main" id="{CBF3A07B-1364-48AD-A52E-52BAE329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287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7" name="Temporal scheduling">
            <a:extLst xmlns:a="http://schemas.openxmlformats.org/drawingml/2006/main">
              <a:ext uri="{FF2B5EF4-FFF2-40B4-BE49-F238E27FC236}">
                <a16:creationId xmlns:a16="http://schemas.microsoft.com/office/drawing/2014/main" id="{157552E4-6D0A-40D8-9993-A3725639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382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Temporal scheduling</a:t>
            </a:r>
          </a:p>
        </p:txBody>
      </p:sp>
      <p:sp>
        <p:nvSpPr>
          <p:cNvPr id="38" name="Select requests for this step">
            <a:extLst xmlns:a="http://schemas.openxmlformats.org/drawingml/2006/main">
              <a:ext uri="{FF2B5EF4-FFF2-40B4-BE49-F238E27FC236}">
                <a16:creationId xmlns:a16="http://schemas.microsoft.com/office/drawing/2014/main" id="{1B4AD658-C6FD-44C3-BD36-E581ACAA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4391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 requests for this step</a:t>
            </a:r>
          </a:p>
        </p:txBody>
      </p:sp>
      <p:sp>
        <p:nvSpPr>
          <p:cNvPr id="39" name="Running first row">
            <a:extLst xmlns:a="http://schemas.openxmlformats.org/drawingml/2006/main">
              <a:ext uri="{FF2B5EF4-FFF2-40B4-BE49-F238E27FC236}">
                <a16:creationId xmlns:a16="http://schemas.microsoft.com/office/drawing/2014/main" id="{163E940D-02C8-47D0-8D9C-BEBBBC35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0535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40" name="Running first">
            <a:extLst xmlns:a="http://schemas.openxmlformats.org/drawingml/2006/main">
              <a:ext uri="{FF2B5EF4-FFF2-40B4-BE49-F238E27FC236}">
                <a16:creationId xmlns:a16="http://schemas.microsoft.com/office/drawing/2014/main" id="{678314CB-2A7D-4031-AAE3-EE79DB1C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Running first</a:t>
            </a:r>
          </a:p>
        </p:txBody>
      </p:sp>
      <p:sp>
        <p:nvSpPr>
          <p:cNvPr id="41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66C665BB-7429-4998-82BC-E1C87CB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62175"/>
            <a:ext cx="9620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417D74"/>
            </a:solidFill>
            <a:prstDash val="solid"/>
          </a:ln>
        </p:spPr>
      </p:sp>
      <p:sp>
        <p:nvSpPr>
          <p:cNvPr id="42" name="D">
            <a:extLst xmlns:a="http://schemas.openxmlformats.org/drawingml/2006/main">
              <a:ext uri="{FF2B5EF4-FFF2-40B4-BE49-F238E27FC236}">
                <a16:creationId xmlns:a16="http://schemas.microsoft.com/office/drawing/2014/main" id="{EB70A334-4BA2-4ED0-AB5D-9F087F26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3" name="Waiting FCFS row">
            <a:extLst xmlns:a="http://schemas.openxmlformats.org/drawingml/2006/main">
              <a:ext uri="{FF2B5EF4-FFF2-40B4-BE49-F238E27FC236}">
                <a16:creationId xmlns:a16="http://schemas.microsoft.com/office/drawing/2014/main" id="{3857DC58-E8FA-45CA-9EC6-4F264E5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4705350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19050">
            <a:solidFill>
              <a:srgbClr val="847871"/>
            </a:solidFill>
            <a:prstDash val="solid"/>
          </a:ln>
        </p:spPr>
      </p:sp>
      <p:sp>
        <p:nvSpPr>
          <p:cNvPr id="44" name="Waiting: FCFS">
            <a:extLst xmlns:a="http://schemas.openxmlformats.org/drawingml/2006/main">
              <a:ext uri="{FF2B5EF4-FFF2-40B4-BE49-F238E27FC236}">
                <a16:creationId xmlns:a16="http://schemas.microsoft.com/office/drawing/2014/main" id="{85A71FF0-157D-4E2D-BBED-BD14341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86075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Waiting: FCFS</a:t>
            </a:r>
          </a:p>
        </p:txBody>
      </p:sp>
      <p:sp>
        <p:nvSpPr>
          <p:cNvPr id="45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A74BB90B-E766-4217-8FF1-A06D057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38450"/>
            <a:ext cx="10001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46" name="R1">
            <a:extLst xmlns:a="http://schemas.openxmlformats.org/drawingml/2006/main">
              <a:ext uri="{FF2B5EF4-FFF2-40B4-BE49-F238E27FC236}">
                <a16:creationId xmlns:a16="http://schemas.microsoft.com/office/drawing/2014/main" id="{11B0186A-80A6-4B6F-AA0C-116ADA4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47975"/>
            <a:ext cx="942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47" name=" stem">
            <a:extLst xmlns:a="http://schemas.openxmlformats.org/drawingml/2006/main">
              <a:ext uri="{FF2B5EF4-FFF2-40B4-BE49-F238E27FC236}">
                <a16:creationId xmlns:a16="http://schemas.microsoft.com/office/drawing/2014/main" id="{6B4E8629-DB38-41A2-AE81-9820C835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01010"/>
            </a:solidFill>
            <a:prstDash val="solid"/>
          </a:ln>
        </p:spPr>
      </p:sp>
      <p:sp>
        <p:nvSpPr>
          <p:cNvPr id="48" name=" arrowhead">
            <a:extLst xmlns:a="http://schemas.openxmlformats.org/drawingml/2006/main">
              <a:ext uri="{FF2B5EF4-FFF2-40B4-BE49-F238E27FC236}">
                <a16:creationId xmlns:a16="http://schemas.microsoft.com/office/drawing/2014/main" id="{10C6D803-AB1E-4735-87C4-AE619B0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706"/>
            <a:ext cx="152400" cy="170688"/>
          </a:xfrm>
          <a:custGeom xmlns:a="http://schemas.openxmlformats.org/drawingml/2006/main">
            <a:pathLst>
              <a:path w="152400" h="170688">
                <a:moveTo>
                  <a:pt x="152400" y="85344"/>
                </a:moveTo>
                <a:lnTo>
                  <a:pt x="0" y="170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49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C2F9816F-6E2C-4D63-A7F8-4B09874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10191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0" name="R2">
            <a:extLst xmlns:a="http://schemas.openxmlformats.org/drawingml/2006/main">
              <a:ext uri="{FF2B5EF4-FFF2-40B4-BE49-F238E27FC236}">
                <a16:creationId xmlns:a16="http://schemas.microsoft.com/office/drawing/2014/main" id="{5873A33F-DC0B-4EE4-85CF-1E7744F7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847975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51" name=" stem">
            <a:extLst xmlns:a="http://schemas.openxmlformats.org/drawingml/2006/main">
              <a:ext uri="{FF2B5EF4-FFF2-40B4-BE49-F238E27FC236}">
                <a16:creationId xmlns:a16="http://schemas.microsoft.com/office/drawing/2014/main" id="{CB98E468-5366-4D1B-8B5B-D658B65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9525" cy="323850"/>
          </a:xfrm>
          <a:custGeom xmlns:a="http://schemas.openxmlformats.org/drawingml/2006/main"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101010"/>
            </a:solidFill>
            <a:prstDash val="solid"/>
          </a:ln>
        </p:spPr>
      </p:sp>
      <p:sp>
        <p:nvSpPr>
          <p:cNvPr id="52" name=" arrowhead">
            <a:extLst xmlns:a="http://schemas.openxmlformats.org/drawingml/2006/main">
              <a:ext uri="{FF2B5EF4-FFF2-40B4-BE49-F238E27FC236}">
                <a16:creationId xmlns:a16="http://schemas.microsoft.com/office/drawing/2014/main" id="{E3FC5683-E5F3-40F8-80E4-9FA46521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863" y="3676650"/>
            <a:ext cx="192024" cy="171450"/>
          </a:xfrm>
          <a:custGeom xmlns:a="http://schemas.openxmlformats.org/drawingml/2006/main">
            <a:pathLst>
              <a:path w="192024" h="171450">
                <a:moveTo>
                  <a:pt x="96012" y="171450"/>
                </a:moveTo>
                <a:lnTo>
                  <a:pt x="0" y="0"/>
                </a:lnTo>
                <a:lnTo>
                  <a:pt x="192024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53" name="Continue / admit">
            <a:extLst xmlns:a="http://schemas.openxmlformats.org/drawingml/2006/main">
              <a:ext uri="{FF2B5EF4-FFF2-40B4-BE49-F238E27FC236}">
                <a16:creationId xmlns:a16="http://schemas.microsoft.com/office/drawing/2014/main" id="{AD6D1FB6-D1B5-4DD4-8DDF-19D09649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81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Continue / admit</a:t>
            </a:r>
          </a:p>
        </p:txBody>
      </p:sp>
      <p:sp>
        <p:nvSpPr>
          <p:cNvPr id="54" name="Selected this step row">
            <a:extLst xmlns:a="http://schemas.openxmlformats.org/drawingml/2006/main">
              <a:ext uri="{FF2B5EF4-FFF2-40B4-BE49-F238E27FC236}">
                <a16:creationId xmlns:a16="http://schemas.microsoft.com/office/drawing/2014/main" id="{09A06052-DE32-4AAF-83C8-4E789D9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4705350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55" name="Selected this step">
            <a:extLst xmlns:a="http://schemas.openxmlformats.org/drawingml/2006/main">
              <a:ext uri="{FF2B5EF4-FFF2-40B4-BE49-F238E27FC236}">
                <a16:creationId xmlns:a16="http://schemas.microsoft.com/office/drawing/2014/main" id="{2603C17E-6A0D-4329-AA00-9739441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19550"/>
            <a:ext cx="1743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8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Selected this step</a:t>
            </a:r>
          </a:p>
        </p:txBody>
      </p:sp>
      <p:sp>
        <p:nvSpPr>
          <p:cNvPr id="56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39A63AE8-3650-49AD-A0B4-6549E35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52875"/>
            <a:ext cx="8382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7" name="D">
            <a:extLst xmlns:a="http://schemas.openxmlformats.org/drawingml/2006/main">
              <a:ext uri="{FF2B5EF4-FFF2-40B4-BE49-F238E27FC236}">
                <a16:creationId xmlns:a16="http://schemas.microsoft.com/office/drawing/2014/main" id="{7B32635F-9596-41AC-800A-70AE0EBA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781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58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47CB05EC-014C-4BB0-B597-E47C3543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8477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9" name="R1">
            <a:extLst xmlns:a="http://schemas.openxmlformats.org/drawingml/2006/main">
              <a:ext uri="{FF2B5EF4-FFF2-40B4-BE49-F238E27FC236}">
                <a16:creationId xmlns:a16="http://schemas.microsoft.com/office/drawing/2014/main" id="{FD5E9134-ECE3-4583-8869-D80F7C41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62400"/>
            <a:ext cx="790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60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C482ABA1-1584-4766-8CC0-517107BC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52875"/>
            <a:ext cx="82867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61" name="R2">
            <a:extLst xmlns:a="http://schemas.openxmlformats.org/drawingml/2006/main">
              <a:ext uri="{FF2B5EF4-FFF2-40B4-BE49-F238E27FC236}">
                <a16:creationId xmlns:a16="http://schemas.microsoft.com/office/drawing/2014/main" id="{7580C6BF-1A49-4AD2-9E6A-BA4716F4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771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62" name="Token / KV limits; preemption">
            <a:extLst xmlns:a="http://schemas.openxmlformats.org/drawingml/2006/main">
              <a:ext uri="{FF2B5EF4-FFF2-40B4-BE49-F238E27FC236}">
                <a16:creationId xmlns:a16="http://schemas.microsoft.com/office/drawing/2014/main" id="{71AFF22C-D6D9-491C-8FE5-96A8924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52950"/>
            <a:ext cx="425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/ KV limits; preemption</a:t>
            </a:r>
          </a:p>
        </p:txBody>
      </p:sp>
      <p:sp>
        <p:nvSpPr>
          <p:cNvPr id="63" name="Spatial scheduling">
            <a:extLst xmlns:a="http://schemas.openxmlformats.org/drawingml/2006/main">
              <a:ext uri="{FF2B5EF4-FFF2-40B4-BE49-F238E27FC236}">
                <a16:creationId xmlns:a16="http://schemas.microsoft.com/office/drawing/2014/main" id="{F7D15EBB-7D58-4648-837E-6CA1D1FE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71550"/>
            <a:ext cx="511492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64" name="rect-7">
            <a:extLst xmlns:a="http://schemas.openxmlformats.org/drawingml/2006/main">
              <a:ext uri="{FF2B5EF4-FFF2-40B4-BE49-F238E27FC236}">
                <a16:creationId xmlns:a16="http://schemas.microsoft.com/office/drawing/2014/main" id="{52AA4AFC-5F4D-4E10-AED4-25794431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71550"/>
            <a:ext cx="51149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65" name="Step 2">
            <a:extLst xmlns:a="http://schemas.openxmlformats.org/drawingml/2006/main">
              <a:ext uri="{FF2B5EF4-FFF2-40B4-BE49-F238E27FC236}">
                <a16:creationId xmlns:a16="http://schemas.microsoft.com/office/drawing/2014/main" id="{A9843AAB-4A2B-4D70-93F3-127F5FC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2">
            <a:extLst xmlns:a="http://schemas.openxmlformats.org/drawingml/2006/main">
              <a:ext uri="{FF2B5EF4-FFF2-40B4-BE49-F238E27FC236}">
                <a16:creationId xmlns:a16="http://schemas.microsoft.com/office/drawing/2014/main" id="{4C68A81D-AC27-499C-BC4E-05C9B9A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287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7" name="Spatial scheduling">
            <a:extLst xmlns:a="http://schemas.openxmlformats.org/drawingml/2006/main">
              <a:ext uri="{FF2B5EF4-FFF2-40B4-BE49-F238E27FC236}">
                <a16:creationId xmlns:a16="http://schemas.microsoft.com/office/drawing/2014/main" id="{F5266351-F1BB-45B5-8234-64A13E0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572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Spatial scheduling</a:t>
            </a:r>
          </a:p>
        </p:txBody>
      </p:sp>
      <p:sp>
        <p:nvSpPr>
          <p:cNvPr id="68" name="rect-8">
            <a:extLst xmlns:a="http://schemas.openxmlformats.org/drawingml/2006/main">
              <a:ext uri="{FF2B5EF4-FFF2-40B4-BE49-F238E27FC236}">
                <a16:creationId xmlns:a16="http://schemas.microsoft.com/office/drawing/2014/main" id="{A927AA0E-7404-4DCF-8697-3B9513E2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8288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69" name="rect-9">
            <a:extLst xmlns:a="http://schemas.openxmlformats.org/drawingml/2006/main">
              <a:ext uri="{FF2B5EF4-FFF2-40B4-BE49-F238E27FC236}">
                <a16:creationId xmlns:a16="http://schemas.microsoft.com/office/drawing/2014/main" id="{D12EFFBD-CBC9-4A9E-8498-BD2A612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828800"/>
            <a:ext cx="14382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70" name="rect-10">
            <a:extLst xmlns:a="http://schemas.openxmlformats.org/drawingml/2006/main">
              <a:ext uri="{FF2B5EF4-FFF2-40B4-BE49-F238E27FC236}">
                <a16:creationId xmlns:a16="http://schemas.microsoft.com/office/drawing/2014/main" id="{6229E51F-EF12-4FD2-A8F5-DE5486DD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1828800"/>
            <a:ext cx="14382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71" name="D">
            <a:extLst xmlns:a="http://schemas.openxmlformats.org/drawingml/2006/main">
              <a:ext uri="{FF2B5EF4-FFF2-40B4-BE49-F238E27FC236}">
                <a16:creationId xmlns:a16="http://schemas.microsoft.com/office/drawing/2014/main" id="{AC25E314-B11E-43C8-8944-6D0D7FB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431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2" name="decode token">
            <a:extLst xmlns:a="http://schemas.openxmlformats.org/drawingml/2006/main">
              <a:ext uri="{FF2B5EF4-FFF2-40B4-BE49-F238E27FC236}">
                <a16:creationId xmlns:a16="http://schemas.microsoft.com/office/drawing/2014/main" id="{EBF11637-5803-48F0-B4E4-88A11B0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14575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decode token</a:t>
            </a:r>
          </a:p>
        </p:txBody>
      </p:sp>
      <p:sp>
        <p:nvSpPr>
          <p:cNvPr id="73" name="R1">
            <a:extLst xmlns:a="http://schemas.openxmlformats.org/drawingml/2006/main">
              <a:ext uri="{FF2B5EF4-FFF2-40B4-BE49-F238E27FC236}">
                <a16:creationId xmlns:a16="http://schemas.microsoft.com/office/drawing/2014/main" id="{D4F06DB2-1DFC-48BA-826C-E62F2C91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9431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74" name="prefill chunk">
            <a:extLst xmlns:a="http://schemas.openxmlformats.org/drawingml/2006/main">
              <a:ext uri="{FF2B5EF4-FFF2-40B4-BE49-F238E27FC236}">
                <a16:creationId xmlns:a16="http://schemas.microsoft.com/office/drawing/2014/main" id="{C8A132B8-D3BB-467C-9E82-BE58F88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31457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 chunk</a:t>
            </a:r>
          </a:p>
        </p:txBody>
      </p:sp>
      <p:sp>
        <p:nvSpPr>
          <p:cNvPr id="75" name="R2">
            <a:extLst xmlns:a="http://schemas.openxmlformats.org/drawingml/2006/main">
              <a:ext uri="{FF2B5EF4-FFF2-40B4-BE49-F238E27FC236}">
                <a16:creationId xmlns:a16="http://schemas.microsoft.com/office/drawing/2014/main" id="{28C7CECC-1AE9-43A0-BF45-02CEFD65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9431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76" name="prefill chunk">
            <a:extLst xmlns:a="http://schemas.openxmlformats.org/drawingml/2006/main">
              <a:ext uri="{FF2B5EF4-FFF2-40B4-BE49-F238E27FC236}">
                <a16:creationId xmlns:a16="http://schemas.microsoft.com/office/drawing/2014/main" id="{A2308005-B2F9-4E40-9389-CE13580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31457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 chunk</a:t>
            </a:r>
          </a:p>
        </p:txBody>
      </p:sp>
      <p:sp>
        <p:nvSpPr>
          <p:cNvPr id="77" name=" stem">
            <a:extLst xmlns:a="http://schemas.openxmlformats.org/drawingml/2006/main">
              <a:ext uri="{FF2B5EF4-FFF2-40B4-BE49-F238E27FC236}">
                <a16:creationId xmlns:a16="http://schemas.microsoft.com/office/drawing/2014/main" id="{7275453B-7085-47D7-984C-886F935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8003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78" name=" arrowhead">
            <a:extLst xmlns:a="http://schemas.openxmlformats.org/drawingml/2006/main">
              <a:ext uri="{FF2B5EF4-FFF2-40B4-BE49-F238E27FC236}">
                <a16:creationId xmlns:a16="http://schemas.microsoft.com/office/drawing/2014/main" id="{FE7B4C83-ED43-4A13-AD02-9CFAC16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313" y="3114675"/>
            <a:ext cx="192024" cy="171450"/>
          </a:xfrm>
          <a:custGeom xmlns:a="http://schemas.openxmlformats.org/drawingml/2006/main">
            <a:pathLst>
              <a:path w="192024" h="171450">
                <a:moveTo>
                  <a:pt x="96012" y="171450"/>
                </a:moveTo>
                <a:lnTo>
                  <a:pt x="0" y="0"/>
                </a:lnTo>
                <a:lnTo>
                  <a:pt x="192024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79" name="Allocate &amp; pack">
            <a:extLst xmlns:a="http://schemas.openxmlformats.org/drawingml/2006/main">
              <a:ext uri="{FF2B5EF4-FFF2-40B4-BE49-F238E27FC236}">
                <a16:creationId xmlns:a16="http://schemas.microsoft.com/office/drawing/2014/main" id="{B0AF17D7-9F09-47B2-811F-DF1CF93C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857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Allocate &amp; pack</a:t>
            </a:r>
          </a:p>
        </p:txBody>
      </p:sp>
      <p:sp>
        <p:nvSpPr>
          <p:cNvPr id="80" name="Budget">
            <a:extLst xmlns:a="http://schemas.openxmlformats.org/drawingml/2006/main">
              <a:ext uri="{FF2B5EF4-FFF2-40B4-BE49-F238E27FC236}">
                <a16:creationId xmlns:a16="http://schemas.microsoft.com/office/drawing/2014/main" id="{5A46CB3F-F28A-42F8-A719-456EB1A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766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Budget</a:t>
            </a:r>
          </a:p>
        </p:txBody>
      </p:sp>
      <p:sp>
        <p:nvSpPr>
          <p:cNvPr id="81" name="B">
            <a:extLst xmlns:a="http://schemas.openxmlformats.org/drawingml/2006/main">
              <a:ext uri="{FF2B5EF4-FFF2-40B4-BE49-F238E27FC236}">
                <a16:creationId xmlns:a16="http://schemas.microsoft.com/office/drawing/2014/main" id="{C91FAC3A-D7CD-4932-9DF6-39F331C1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276600"/>
            <a:ext cx="257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2" name="line-11">
            <a:extLst xmlns:a="http://schemas.openxmlformats.org/drawingml/2006/main">
              <a:ext uri="{FF2B5EF4-FFF2-40B4-BE49-F238E27FC236}">
                <a16:creationId xmlns:a16="http://schemas.microsoft.com/office/drawing/2014/main" id="{651EEB97-E98A-4CB6-AD18-772F292A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2375"/>
            <a:ext cx="4371975" cy="9525"/>
          </a:xfrm>
          <a:custGeom xmlns:a="http://schemas.openxmlformats.org/drawingml/2006/main">
            <a:pathLst>
              <a:path w="4371975" h="9525">
                <a:moveTo>
                  <a:pt x="0" y="0"/>
                </a:moveTo>
                <a:lnTo>
                  <a:pt x="437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3" name="line-12">
            <a:extLst xmlns:a="http://schemas.openxmlformats.org/drawingml/2006/main">
              <a:ext uri="{FF2B5EF4-FFF2-40B4-BE49-F238E27FC236}">
                <a16:creationId xmlns:a16="http://schemas.microsoft.com/office/drawing/2014/main" id="{0234AEAA-5954-4DD7-A6B2-C128A68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657600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4" name="line-13">
            <a:extLst xmlns:a="http://schemas.openxmlformats.org/drawingml/2006/main">
              <a:ext uri="{FF2B5EF4-FFF2-40B4-BE49-F238E27FC236}">
                <a16:creationId xmlns:a16="http://schemas.microsoft.com/office/drawing/2014/main" id="{08EAE572-B5A9-4480-912B-6CD7A63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657600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5" name="rect-14">
            <a:extLst xmlns:a="http://schemas.openxmlformats.org/drawingml/2006/main">
              <a:ext uri="{FF2B5EF4-FFF2-40B4-BE49-F238E27FC236}">
                <a16:creationId xmlns:a16="http://schemas.microsoft.com/office/drawing/2014/main" id="{0D985F87-EF24-4831-BEF5-A61BEF2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9338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6" name="rect-15">
            <a:extLst xmlns:a="http://schemas.openxmlformats.org/drawingml/2006/main">
              <a:ext uri="{FF2B5EF4-FFF2-40B4-BE49-F238E27FC236}">
                <a16:creationId xmlns:a16="http://schemas.microsoft.com/office/drawing/2014/main" id="{7ADA1F67-B92C-4085-9ABF-B76D384A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33825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7" name="rect-16">
            <a:extLst xmlns:a="http://schemas.openxmlformats.org/drawingml/2006/main">
              <a:ext uri="{FF2B5EF4-FFF2-40B4-BE49-F238E27FC236}">
                <a16:creationId xmlns:a16="http://schemas.microsoft.com/office/drawing/2014/main" id="{8806F8A0-FE3D-4357-8F88-9714B80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933825"/>
            <a:ext cx="1609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8" name="D">
            <a:extLst xmlns:a="http://schemas.openxmlformats.org/drawingml/2006/main">
              <a:ext uri="{FF2B5EF4-FFF2-40B4-BE49-F238E27FC236}">
                <a16:creationId xmlns:a16="http://schemas.microsoft.com/office/drawing/2014/main" id="{DFD61DEA-9751-4771-A595-4725F0D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3529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89" name="R1">
            <a:extLst xmlns:a="http://schemas.openxmlformats.org/drawingml/2006/main">
              <a:ext uri="{FF2B5EF4-FFF2-40B4-BE49-F238E27FC236}">
                <a16:creationId xmlns:a16="http://schemas.microsoft.com/office/drawing/2014/main" id="{5FF73E93-516E-41B5-8B68-C6BB544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352925"/>
            <a:ext cx="107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90" name="R2">
            <a:extLst xmlns:a="http://schemas.openxmlformats.org/drawingml/2006/main">
              <a:ext uri="{FF2B5EF4-FFF2-40B4-BE49-F238E27FC236}">
                <a16:creationId xmlns:a16="http://schemas.microsoft.com/office/drawing/2014/main" id="{2CF8BC5C-464A-4EF7-82BB-778DC768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352925"/>
            <a:ext cx="107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91" name="Execute batch">
            <a:extLst xmlns:a="http://schemas.openxmlformats.org/drawingml/2006/main">
              <a:ext uri="{FF2B5EF4-FFF2-40B4-BE49-F238E27FC236}">
                <a16:creationId xmlns:a16="http://schemas.microsoft.com/office/drawing/2014/main" id="{DC647DD2-340F-4740-A7DD-F4590BE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1409700"/>
            <a:ext cx="27908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2" name="rect-17">
            <a:extLst xmlns:a="http://schemas.openxmlformats.org/drawingml/2006/main">
              <a:ext uri="{FF2B5EF4-FFF2-40B4-BE49-F238E27FC236}">
                <a16:creationId xmlns:a16="http://schemas.microsoft.com/office/drawing/2014/main" id="{E2B52A22-3B47-40E9-BF1F-1FD1F8A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1409700"/>
            <a:ext cx="2790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93" name="Step 3">
            <a:extLst xmlns:a="http://schemas.openxmlformats.org/drawingml/2006/main">
              <a:ext uri="{FF2B5EF4-FFF2-40B4-BE49-F238E27FC236}">
                <a16:creationId xmlns:a16="http://schemas.microsoft.com/office/drawing/2014/main" id="{3053B2BB-2F52-4B59-8858-E62BF7EA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1485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3">
            <a:extLst xmlns:a="http://schemas.openxmlformats.org/drawingml/2006/main">
              <a:ext uri="{FF2B5EF4-FFF2-40B4-BE49-F238E27FC236}">
                <a16:creationId xmlns:a16="http://schemas.microsoft.com/office/drawing/2014/main" id="{44A9280D-144A-42DD-A64F-0421FF66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1476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5" name="Execute batch">
            <a:extLst xmlns:a="http://schemas.openxmlformats.org/drawingml/2006/main">
              <a:ext uri="{FF2B5EF4-FFF2-40B4-BE49-F238E27FC236}">
                <a16:creationId xmlns:a16="http://schemas.microsoft.com/office/drawing/2014/main" id="{A36D1CD8-9F29-4C7C-838F-6EEDF540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1504950"/>
            <a:ext cx="201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Execute batch</a:t>
            </a:r>
          </a:p>
        </p:txBody>
      </p:sp>
      <p:sp>
        <p:nvSpPr>
          <p:cNvPr id="96" name="GPU chip">
            <a:extLst xmlns:a="http://schemas.openxmlformats.org/drawingml/2006/main">
              <a:ext uri="{FF2B5EF4-FFF2-40B4-BE49-F238E27FC236}">
                <a16:creationId xmlns:a16="http://schemas.microsoft.com/office/drawing/2014/main" id="{DEAB44C2-D995-41E6-83B9-486E678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2343150"/>
            <a:ext cx="762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7" name="GPU">
            <a:extLst xmlns:a="http://schemas.openxmlformats.org/drawingml/2006/main">
              <a:ext uri="{FF2B5EF4-FFF2-40B4-BE49-F238E27FC236}">
                <a16:creationId xmlns:a16="http://schemas.microsoft.com/office/drawing/2014/main" id="{0757C5D3-4415-40E3-A815-4FC131EE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2466975"/>
            <a:ext cx="74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GPU</a:t>
            </a:r>
          </a:p>
        </p:txBody>
      </p:sp>
      <p:sp>
        <p:nvSpPr>
          <p:cNvPr id="98" name="line-18">
            <a:extLst xmlns:a="http://schemas.openxmlformats.org/drawingml/2006/main">
              <a:ext uri="{FF2B5EF4-FFF2-40B4-BE49-F238E27FC236}">
                <a16:creationId xmlns:a16="http://schemas.microsoft.com/office/drawing/2014/main" id="{96E6E8BB-52A5-4BE9-8E47-DF67E2A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9" name="line-19">
            <a:extLst xmlns:a="http://schemas.openxmlformats.org/drawingml/2006/main">
              <a:ext uri="{FF2B5EF4-FFF2-40B4-BE49-F238E27FC236}">
                <a16:creationId xmlns:a16="http://schemas.microsoft.com/office/drawing/2014/main" id="{63AEFBE4-6C3D-44C1-A811-8A8D1C9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0" name="line-20">
            <a:extLst xmlns:a="http://schemas.openxmlformats.org/drawingml/2006/main">
              <a:ext uri="{FF2B5EF4-FFF2-40B4-BE49-F238E27FC236}">
                <a16:creationId xmlns:a16="http://schemas.microsoft.com/office/drawing/2014/main" id="{3DDBEA26-8457-4BAC-910C-1CA2B83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1" name="line-21">
            <a:extLst xmlns:a="http://schemas.openxmlformats.org/drawingml/2006/main">
              <a:ext uri="{FF2B5EF4-FFF2-40B4-BE49-F238E27FC236}">
                <a16:creationId xmlns:a16="http://schemas.microsoft.com/office/drawing/2014/main" id="{874388A9-D2A0-487A-814E-2EA1C01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2" name="line-22">
            <a:extLst xmlns:a="http://schemas.openxmlformats.org/drawingml/2006/main">
              <a:ext uri="{FF2B5EF4-FFF2-40B4-BE49-F238E27FC236}">
                <a16:creationId xmlns:a16="http://schemas.microsoft.com/office/drawing/2014/main" id="{F7A7C78A-6234-4385-82E6-7E9E4478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3" name="line-23">
            <a:extLst xmlns:a="http://schemas.openxmlformats.org/drawingml/2006/main">
              <a:ext uri="{FF2B5EF4-FFF2-40B4-BE49-F238E27FC236}">
                <a16:creationId xmlns:a16="http://schemas.microsoft.com/office/drawing/2014/main" id="{4FFDE357-50C5-449C-A6AE-C49A241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4" name="line-24">
            <a:extLst xmlns:a="http://schemas.openxmlformats.org/drawingml/2006/main">
              <a:ext uri="{FF2B5EF4-FFF2-40B4-BE49-F238E27FC236}">
                <a16:creationId xmlns:a16="http://schemas.microsoft.com/office/drawing/2014/main" id="{1AA2F865-D14D-4D5B-A32E-E7A12CAF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5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5" name="line-25">
            <a:extLst xmlns:a="http://schemas.openxmlformats.org/drawingml/2006/main">
              <a:ext uri="{FF2B5EF4-FFF2-40B4-BE49-F238E27FC236}">
                <a16:creationId xmlns:a16="http://schemas.microsoft.com/office/drawing/2014/main" id="{4C8A927B-E1CD-4962-9BB4-0F60E776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5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6" name="line-26">
            <a:extLst xmlns:a="http://schemas.openxmlformats.org/drawingml/2006/main">
              <a:ext uri="{FF2B5EF4-FFF2-40B4-BE49-F238E27FC236}">
                <a16:creationId xmlns:a16="http://schemas.microsoft.com/office/drawing/2014/main" id="{72C3EE48-64B1-4DCB-9418-9A4883C1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7" name="line-27">
            <a:extLst xmlns:a="http://schemas.openxmlformats.org/drawingml/2006/main">
              <a:ext uri="{FF2B5EF4-FFF2-40B4-BE49-F238E27FC236}">
                <a16:creationId xmlns:a16="http://schemas.microsoft.com/office/drawing/2014/main" id="{785D0F20-DAF6-4CFC-A371-B67FF716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8" name="line-28">
            <a:extLst xmlns:a="http://schemas.openxmlformats.org/drawingml/2006/main">
              <a:ext uri="{FF2B5EF4-FFF2-40B4-BE49-F238E27FC236}">
                <a16:creationId xmlns:a16="http://schemas.microsoft.com/office/drawing/2014/main" id="{3825327B-9730-4B18-A013-A1545B8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4479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9" name="line-29">
            <a:extLst xmlns:a="http://schemas.openxmlformats.org/drawingml/2006/main">
              <a:ext uri="{FF2B5EF4-FFF2-40B4-BE49-F238E27FC236}">
                <a16:creationId xmlns:a16="http://schemas.microsoft.com/office/drawing/2014/main" id="{DC0AE543-AB15-4B61-8DC8-99C0CFE6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4479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0" name="line-30">
            <a:extLst xmlns:a="http://schemas.openxmlformats.org/drawingml/2006/main">
              <a:ext uri="{FF2B5EF4-FFF2-40B4-BE49-F238E27FC236}">
                <a16:creationId xmlns:a16="http://schemas.microsoft.com/office/drawing/2014/main" id="{386761A1-2F67-4F49-AC91-0529F0D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57175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1" name="line-31">
            <a:extLst xmlns:a="http://schemas.openxmlformats.org/drawingml/2006/main">
              <a:ext uri="{FF2B5EF4-FFF2-40B4-BE49-F238E27FC236}">
                <a16:creationId xmlns:a16="http://schemas.microsoft.com/office/drawing/2014/main" id="{47E4637D-A178-41B8-97F9-8EB395B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5717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2" name="line-32">
            <a:extLst xmlns:a="http://schemas.openxmlformats.org/drawingml/2006/main">
              <a:ext uri="{FF2B5EF4-FFF2-40B4-BE49-F238E27FC236}">
                <a16:creationId xmlns:a16="http://schemas.microsoft.com/office/drawing/2014/main" id="{CE04DFB4-B1E1-4553-8C6B-7AB04A3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69557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3" name="line-33">
            <a:extLst xmlns:a="http://schemas.openxmlformats.org/drawingml/2006/main">
              <a:ext uri="{FF2B5EF4-FFF2-40B4-BE49-F238E27FC236}">
                <a16:creationId xmlns:a16="http://schemas.microsoft.com/office/drawing/2014/main" id="{BCB8C602-CB68-4A1D-817C-9BBFA649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69557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4" name="line-34">
            <a:extLst xmlns:a="http://schemas.openxmlformats.org/drawingml/2006/main">
              <a:ext uri="{FF2B5EF4-FFF2-40B4-BE49-F238E27FC236}">
                <a16:creationId xmlns:a16="http://schemas.microsoft.com/office/drawing/2014/main" id="{63175D09-8D9F-4134-97D0-202A79C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81940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5" name="line-35">
            <a:extLst xmlns:a="http://schemas.openxmlformats.org/drawingml/2006/main">
              <a:ext uri="{FF2B5EF4-FFF2-40B4-BE49-F238E27FC236}">
                <a16:creationId xmlns:a16="http://schemas.microsoft.com/office/drawing/2014/main" id="{CC1A194A-A4FA-4882-B87A-7E0DF96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81940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6" name="line-36">
            <a:extLst xmlns:a="http://schemas.openxmlformats.org/drawingml/2006/main">
              <a:ext uri="{FF2B5EF4-FFF2-40B4-BE49-F238E27FC236}">
                <a16:creationId xmlns:a16="http://schemas.microsoft.com/office/drawing/2014/main" id="{B9DEA2C7-C075-45C7-ABED-2CEB8BB3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9432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7" name="line-37">
            <a:extLst xmlns:a="http://schemas.openxmlformats.org/drawingml/2006/main">
              <a:ext uri="{FF2B5EF4-FFF2-40B4-BE49-F238E27FC236}">
                <a16:creationId xmlns:a16="http://schemas.microsoft.com/office/drawing/2014/main" id="{CBE2FAFF-20D6-4906-9DA5-5D830B45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9432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8" name="rect-38">
            <a:extLst xmlns:a="http://schemas.openxmlformats.org/drawingml/2006/main">
              <a:ext uri="{FF2B5EF4-FFF2-40B4-BE49-F238E27FC236}">
                <a16:creationId xmlns:a16="http://schemas.microsoft.com/office/drawing/2014/main" id="{FDF10996-01BE-464E-B57A-AF6DD31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3771900"/>
            <a:ext cx="2790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9" name="Step 4">
            <a:extLst xmlns:a="http://schemas.openxmlformats.org/drawingml/2006/main">
              <a:ext uri="{FF2B5EF4-FFF2-40B4-BE49-F238E27FC236}">
                <a16:creationId xmlns:a16="http://schemas.microsoft.com/office/drawing/2014/main" id="{9B158CFE-832E-4DAD-9C6E-3E3CCA86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3857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4">
            <a:extLst xmlns:a="http://schemas.openxmlformats.org/drawingml/2006/main">
              <a:ext uri="{FF2B5EF4-FFF2-40B4-BE49-F238E27FC236}">
                <a16:creationId xmlns:a16="http://schemas.microsoft.com/office/drawing/2014/main" id="{A56139E7-5BEB-43B3-8D87-BF9525C0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3848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21" name="Update states">
            <a:extLst xmlns:a="http://schemas.openxmlformats.org/drawingml/2006/main">
              <a:ext uri="{FF2B5EF4-FFF2-40B4-BE49-F238E27FC236}">
                <a16:creationId xmlns:a16="http://schemas.microsoft.com/office/drawing/2014/main" id="{D9F0B2B0-74AD-4997-AB83-15ED6BCE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3867150"/>
            <a:ext cx="1895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Update states</a:t>
            </a:r>
          </a:p>
        </p:txBody>
      </p:sp>
      <p:sp>
        <p:nvSpPr>
          <p:cNvPr id="122" name="line-39">
            <a:extLst xmlns:a="http://schemas.openxmlformats.org/drawingml/2006/main">
              <a:ext uri="{FF2B5EF4-FFF2-40B4-BE49-F238E27FC236}">
                <a16:creationId xmlns:a16="http://schemas.microsoft.com/office/drawing/2014/main" id="{B29FD749-0F37-41B5-BDD3-1A8C4966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86325"/>
            <a:ext cx="4133850" cy="952500"/>
          </a:xfrm>
          <a:custGeom xmlns:a="http://schemas.openxmlformats.org/drawingml/2006/main">
            <a:pathLst>
              <a:path w="4133850" h="952500">
                <a:moveTo>
                  <a:pt x="413385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3" name="line-40">
            <a:extLst xmlns:a="http://schemas.openxmlformats.org/drawingml/2006/main">
              <a:ext uri="{FF2B5EF4-FFF2-40B4-BE49-F238E27FC236}">
                <a16:creationId xmlns:a16="http://schemas.microsoft.com/office/drawing/2014/main" id="{32471049-246E-467F-B8D4-0D6C4FD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323850" cy="933450"/>
          </a:xfrm>
          <a:custGeom xmlns:a="http://schemas.openxmlformats.org/drawingml/2006/main">
            <a:pathLst>
              <a:path w="323850" h="933450">
                <a:moveTo>
                  <a:pt x="0" y="0"/>
                </a:moveTo>
                <a:lnTo>
                  <a:pt x="32385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4" name="line-41">
            <a:extLst xmlns:a="http://schemas.openxmlformats.org/drawingml/2006/main">
              <a:ext uri="{FF2B5EF4-FFF2-40B4-BE49-F238E27FC236}">
                <a16:creationId xmlns:a16="http://schemas.microsoft.com/office/drawing/2014/main" id="{869856D3-34F2-41AF-B792-31F17E9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914900"/>
            <a:ext cx="438150" cy="933450"/>
          </a:xfrm>
          <a:custGeom xmlns:a="http://schemas.openxmlformats.org/drawingml/2006/main">
            <a:pathLst>
              <a:path w="438150" h="933450">
                <a:moveTo>
                  <a:pt x="43815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5" name="line-42">
            <a:extLst xmlns:a="http://schemas.openxmlformats.org/drawingml/2006/main">
              <a:ext uri="{FF2B5EF4-FFF2-40B4-BE49-F238E27FC236}">
                <a16:creationId xmlns:a16="http://schemas.microsoft.com/office/drawing/2014/main" id="{8D540D7D-0E1C-4115-A176-9F11D0C0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914900"/>
            <a:ext cx="3752850" cy="933450"/>
          </a:xfrm>
          <a:custGeom xmlns:a="http://schemas.openxmlformats.org/drawingml/2006/main">
            <a:pathLst>
              <a:path w="3752850" h="933450">
                <a:moveTo>
                  <a:pt x="0" y="0"/>
                </a:moveTo>
                <a:lnTo>
                  <a:pt x="375285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6" name="Problem 1: FCFS ignores urgency">
            <a:extLst xmlns:a="http://schemas.openxmlformats.org/drawingml/2006/main">
              <a:ext uri="{FF2B5EF4-FFF2-40B4-BE49-F238E27FC236}">
                <a16:creationId xmlns:a16="http://schemas.microsoft.com/office/drawing/2014/main" id="{73C2B664-0ED8-4B61-962D-F7A4DBDF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48350"/>
            <a:ext cx="9553575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27" name="rect-43">
            <a:extLst xmlns:a="http://schemas.openxmlformats.org/drawingml/2006/main">
              <a:ext uri="{FF2B5EF4-FFF2-40B4-BE49-F238E27FC236}">
                <a16:creationId xmlns:a16="http://schemas.microsoft.com/office/drawing/2014/main" id="{59B080AE-F21C-43B5-A261-619DAEC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48350"/>
            <a:ext cx="95535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128" name="Problem 1: FCFS ignores urgency">
            <a:extLst xmlns:a="http://schemas.openxmlformats.org/drawingml/2006/main">
              <a:ext uri="{FF2B5EF4-FFF2-40B4-BE49-F238E27FC236}">
                <a16:creationId xmlns:a16="http://schemas.microsoft.com/office/drawing/2014/main" id="{0E7795EC-6A6A-4E7E-A0E5-BE54043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817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Problem 1: FCFS ignores urgency</a:t>
            </a:r>
          </a:p>
        </p:txBody>
      </p:sp>
      <p:sp>
        <p:nvSpPr>
          <p:cNvPr id="129" name="R0: earlier long request; R1: loose TTFT; R2: tight TTFT">
            <a:extLst xmlns:a="http://schemas.openxmlformats.org/drawingml/2006/main">
              <a:ext uri="{FF2B5EF4-FFF2-40B4-BE49-F238E27FC236}">
                <a16:creationId xmlns:a16="http://schemas.microsoft.com/office/drawing/2014/main" id="{4319177D-8A03-4E0D-809E-935917E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86525"/>
            <a:ext cx="747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R0: earlier long request; R1: loose TTFT; R2: tight TTFT</a:t>
            </a:r>
          </a:p>
        </p:txBody>
      </p:sp>
      <p:sp>
        <p:nvSpPr>
          <p:cNvPr id="130" name="All waiting at t0; D continues decoding">
            <a:extLst xmlns:a="http://schemas.openxmlformats.org/drawingml/2006/main">
              <a:ext uri="{FF2B5EF4-FFF2-40B4-BE49-F238E27FC236}">
                <a16:creationId xmlns:a16="http://schemas.microsoft.com/office/drawing/2014/main" id="{474AF92C-F5F4-4BC5-A32A-1D211E7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819900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All waiting at t0; D continues decoding</a:t>
            </a:r>
          </a:p>
        </p:txBody>
      </p:sp>
      <p:sp>
        <p:nvSpPr>
          <p:cNvPr id="131" name="R2 TTFT ddl">
            <a:extLst xmlns:a="http://schemas.openxmlformats.org/drawingml/2006/main">
              <a:ext uri="{FF2B5EF4-FFF2-40B4-BE49-F238E27FC236}">
                <a16:creationId xmlns:a16="http://schemas.microsoft.com/office/drawing/2014/main" id="{AF6B554A-456B-4475-8A9A-F19F4B0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1913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 TTFT ddl</a:t>
            </a:r>
          </a:p>
        </p:txBody>
      </p:sp>
      <p:sp>
        <p:nvSpPr>
          <p:cNvPr id="132" name="R1 TTFT ddl">
            <a:extLst xmlns:a="http://schemas.openxmlformats.org/drawingml/2006/main">
              <a:ext uri="{FF2B5EF4-FFF2-40B4-BE49-F238E27FC236}">
                <a16:creationId xmlns:a16="http://schemas.microsoft.com/office/drawing/2014/main" id="{D09D9396-EC56-4065-96EF-93B5E85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1913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 TTFT ddl</a:t>
            </a:r>
          </a:p>
        </p:txBody>
      </p:sp>
      <p:sp>
        <p:nvSpPr>
          <p:cNvPr id="133" name="FCFS">
            <a:extLst xmlns:a="http://schemas.openxmlformats.org/drawingml/2006/main">
              <a:ext uri="{FF2B5EF4-FFF2-40B4-BE49-F238E27FC236}">
                <a16:creationId xmlns:a16="http://schemas.microsoft.com/office/drawing/2014/main" id="{8C151927-A54E-4A40-B74C-FC50E5B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0"/>
            <a:ext cx="104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FCFS</a:t>
            </a:r>
          </a:p>
        </p:txBody>
      </p:sp>
      <p:sp>
        <p:nvSpPr>
          <p:cNvPr id="134" name="better">
            <a:extLst xmlns:a="http://schemas.openxmlformats.org/drawingml/2006/main">
              <a:ext uri="{FF2B5EF4-FFF2-40B4-BE49-F238E27FC236}">
                <a16:creationId xmlns:a16="http://schemas.microsoft.com/office/drawing/2014/main" id="{DC2CC7A3-722F-4B6F-B0CB-038E6641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10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better</a:t>
            </a:r>
          </a:p>
        </p:txBody>
      </p:sp>
      <p:sp>
        <p:nvSpPr>
          <p:cNvPr id="135" name="schedule">
            <a:extLst xmlns:a="http://schemas.openxmlformats.org/drawingml/2006/main">
              <a:ext uri="{FF2B5EF4-FFF2-40B4-BE49-F238E27FC236}">
                <a16:creationId xmlns:a16="http://schemas.microsoft.com/office/drawing/2014/main" id="{EE86BCF3-093F-40FD-B243-327F3062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schedule</a:t>
            </a:r>
          </a:p>
        </p:txBody>
      </p:sp>
      <p:sp>
        <p:nvSpPr>
          <p:cNvPr id="136" name="rect-44">
            <a:extLst xmlns:a="http://schemas.openxmlformats.org/drawingml/2006/main">
              <a:ext uri="{FF2B5EF4-FFF2-40B4-BE49-F238E27FC236}">
                <a16:creationId xmlns:a16="http://schemas.microsoft.com/office/drawing/2014/main" id="{4E66B3A3-B3F5-4033-B2C2-548F086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791450"/>
            <a:ext cx="1866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37" name="R0">
            <a:extLst xmlns:a="http://schemas.openxmlformats.org/drawingml/2006/main">
              <a:ext uri="{FF2B5EF4-FFF2-40B4-BE49-F238E27FC236}">
                <a16:creationId xmlns:a16="http://schemas.microsoft.com/office/drawing/2014/main" id="{948864B0-B9B0-414C-855A-DBC303B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829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38" name="rect-45">
            <a:extLst xmlns:a="http://schemas.openxmlformats.org/drawingml/2006/main">
              <a:ext uri="{FF2B5EF4-FFF2-40B4-BE49-F238E27FC236}">
                <a16:creationId xmlns:a16="http://schemas.microsoft.com/office/drawing/2014/main" id="{1A47F03E-3444-4D5E-9800-8AA26475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7791450"/>
            <a:ext cx="1866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39" name="R0">
            <a:extLst xmlns:a="http://schemas.openxmlformats.org/drawingml/2006/main">
              <a:ext uri="{FF2B5EF4-FFF2-40B4-BE49-F238E27FC236}">
                <a16:creationId xmlns:a16="http://schemas.microsoft.com/office/drawing/2014/main" id="{31CD3CFE-9C21-408E-B4E5-21A30F7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829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40" name="rect-46">
            <a:extLst xmlns:a="http://schemas.openxmlformats.org/drawingml/2006/main">
              <a:ext uri="{FF2B5EF4-FFF2-40B4-BE49-F238E27FC236}">
                <a16:creationId xmlns:a16="http://schemas.microsoft.com/office/drawing/2014/main" id="{2D09BDDF-DF57-4DCA-8263-5B3997D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791450"/>
            <a:ext cx="2019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D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1" name="R1">
            <a:extLst xmlns:a="http://schemas.openxmlformats.org/drawingml/2006/main">
              <a:ext uri="{FF2B5EF4-FFF2-40B4-BE49-F238E27FC236}">
                <a16:creationId xmlns:a16="http://schemas.microsoft.com/office/drawing/2014/main" id="{98FA34CA-7BDF-42E0-958C-8EBE91D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8295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142" name="rect-47">
            <a:extLst xmlns:a="http://schemas.openxmlformats.org/drawingml/2006/main">
              <a:ext uri="{FF2B5EF4-FFF2-40B4-BE49-F238E27FC236}">
                <a16:creationId xmlns:a16="http://schemas.microsoft.com/office/drawing/2014/main" id="{D56778A3-3340-4106-BFA5-91C4CCDD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791450"/>
            <a:ext cx="1857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3" name="R2">
            <a:extLst xmlns:a="http://schemas.openxmlformats.org/drawingml/2006/main">
              <a:ext uri="{FF2B5EF4-FFF2-40B4-BE49-F238E27FC236}">
                <a16:creationId xmlns:a16="http://schemas.microsoft.com/office/drawing/2014/main" id="{0E5A322F-6199-48D9-BB8C-70609A1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829550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144" name="rect-48">
            <a:extLst xmlns:a="http://schemas.openxmlformats.org/drawingml/2006/main">
              <a:ext uri="{FF2B5EF4-FFF2-40B4-BE49-F238E27FC236}">
                <a16:creationId xmlns:a16="http://schemas.microsoft.com/office/drawing/2014/main" id="{79CDCAFF-E4F4-4473-A8CC-98536B0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8610600"/>
            <a:ext cx="1866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5" name="R2">
            <a:extLst xmlns:a="http://schemas.openxmlformats.org/drawingml/2006/main">
              <a:ext uri="{FF2B5EF4-FFF2-40B4-BE49-F238E27FC236}">
                <a16:creationId xmlns:a16="http://schemas.microsoft.com/office/drawing/2014/main" id="{C8CA20C7-8E6F-4A21-AC3C-6D720FFA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6487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146" name="rect-49">
            <a:extLst xmlns:a="http://schemas.openxmlformats.org/drawingml/2006/main">
              <a:ext uri="{FF2B5EF4-FFF2-40B4-BE49-F238E27FC236}">
                <a16:creationId xmlns:a16="http://schemas.microsoft.com/office/drawing/2014/main" id="{A3C736AB-089D-422E-9E81-EB05C1F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610600"/>
            <a:ext cx="1866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D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7" name="R1">
            <a:extLst xmlns:a="http://schemas.openxmlformats.org/drawingml/2006/main">
              <a:ext uri="{FF2B5EF4-FFF2-40B4-BE49-F238E27FC236}">
                <a16:creationId xmlns:a16="http://schemas.microsoft.com/office/drawing/2014/main" id="{2BADD207-7CD7-4F25-9A30-156366D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6487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148" name="rect-50">
            <a:extLst xmlns:a="http://schemas.openxmlformats.org/drawingml/2006/main">
              <a:ext uri="{FF2B5EF4-FFF2-40B4-BE49-F238E27FC236}">
                <a16:creationId xmlns:a16="http://schemas.microsoft.com/office/drawing/2014/main" id="{331F0692-04B1-4C32-8384-D9B2F1C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610600"/>
            <a:ext cx="20193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9" name="R0">
            <a:extLst xmlns:a="http://schemas.openxmlformats.org/drawingml/2006/main">
              <a:ext uri="{FF2B5EF4-FFF2-40B4-BE49-F238E27FC236}">
                <a16:creationId xmlns:a16="http://schemas.microsoft.com/office/drawing/2014/main" id="{5BFE170F-2CE0-4258-A2A0-5C1C0C3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648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50" name="rect-51">
            <a:extLst xmlns:a="http://schemas.openxmlformats.org/drawingml/2006/main">
              <a:ext uri="{FF2B5EF4-FFF2-40B4-BE49-F238E27FC236}">
                <a16:creationId xmlns:a16="http://schemas.microsoft.com/office/drawing/2014/main" id="{251D4912-69A6-48C2-990A-749735F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610600"/>
            <a:ext cx="1857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51" name="R0">
            <a:extLst xmlns:a="http://schemas.openxmlformats.org/drawingml/2006/main">
              <a:ext uri="{FF2B5EF4-FFF2-40B4-BE49-F238E27FC236}">
                <a16:creationId xmlns:a16="http://schemas.microsoft.com/office/drawing/2014/main" id="{95B5F681-5835-4EAB-958B-B7BD2725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4870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52" name="R2 deadline">
            <a:extLst xmlns:a="http://schemas.openxmlformats.org/drawingml/2006/main">
              <a:ext uri="{FF2B5EF4-FFF2-40B4-BE49-F238E27FC236}">
                <a16:creationId xmlns:a16="http://schemas.microsoft.com/office/drawing/2014/main" id="{A5635999-F374-4978-9B71-D3E36D3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7515225"/>
            <a:ext cx="9525" cy="1781175"/>
          </a:xfrm>
          <a:custGeom xmlns:a="http://schemas.openxmlformats.org/drawingml/2006/main">
            <a:pathLst>
              <a:path w="9525" h="1781175">
                <a:moveTo>
                  <a:pt x="0" y="0"/>
                </a:moveTo>
                <a:lnTo>
                  <a:pt x="0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53" name="R1 deadline">
            <a:extLst xmlns:a="http://schemas.openxmlformats.org/drawingml/2006/main">
              <a:ext uri="{FF2B5EF4-FFF2-40B4-BE49-F238E27FC236}">
                <a16:creationId xmlns:a16="http://schemas.microsoft.com/office/drawing/2014/main" id="{51C4441B-0C9F-41C6-8337-3C84D1F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515225"/>
            <a:ext cx="9525" cy="1781175"/>
          </a:xfrm>
          <a:custGeom xmlns:a="http://schemas.openxmlformats.org/drawingml/2006/main">
            <a:pathLst>
              <a:path w="9525" h="1781175">
                <a:moveTo>
                  <a:pt x="0" y="0"/>
                </a:moveTo>
                <a:lnTo>
                  <a:pt x="0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54" name="line-52">
            <a:extLst xmlns:a="http://schemas.openxmlformats.org/drawingml/2006/main">
              <a:ext uri="{FF2B5EF4-FFF2-40B4-BE49-F238E27FC236}">
                <a16:creationId xmlns:a16="http://schemas.microsoft.com/office/drawing/2014/main" id="{E8FB4F94-0A9E-4017-9194-993D1241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5" name="line-53">
            <a:extLst xmlns:a="http://schemas.openxmlformats.org/drawingml/2006/main">
              <a:ext uri="{FF2B5EF4-FFF2-40B4-BE49-F238E27FC236}">
                <a16:creationId xmlns:a16="http://schemas.microsoft.com/office/drawing/2014/main" id="{E75C7D9B-A274-4AE3-8DC0-E4393301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6" name="line-54">
            <a:extLst xmlns:a="http://schemas.openxmlformats.org/drawingml/2006/main">
              <a:ext uri="{FF2B5EF4-FFF2-40B4-BE49-F238E27FC236}">
                <a16:creationId xmlns:a16="http://schemas.microsoft.com/office/drawing/2014/main" id="{F1DCC6CB-5268-444E-8696-ADE1C321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7" name="line-55">
            <a:extLst xmlns:a="http://schemas.openxmlformats.org/drawingml/2006/main">
              <a:ext uri="{FF2B5EF4-FFF2-40B4-BE49-F238E27FC236}">
                <a16:creationId xmlns:a16="http://schemas.microsoft.com/office/drawing/2014/main" id="{4365860F-1044-4EA1-9123-C7266C4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8" name="line-56">
            <a:extLst xmlns:a="http://schemas.openxmlformats.org/drawingml/2006/main">
              <a:ext uri="{FF2B5EF4-FFF2-40B4-BE49-F238E27FC236}">
                <a16:creationId xmlns:a16="http://schemas.microsoft.com/office/drawing/2014/main" id="{B4D9B078-06AA-4481-B2F8-29610CE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8852535"/>
            <a:ext cx="74676" cy="120015"/>
          </a:xfrm>
          <a:custGeom xmlns:a="http://schemas.openxmlformats.org/drawingml/2006/main">
            <a:pathLst>
              <a:path w="74676" h="120015">
                <a:moveTo>
                  <a:pt x="0" y="0"/>
                </a:moveTo>
                <a:lnTo>
                  <a:pt x="74676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59" name="line-57">
            <a:extLst xmlns:a="http://schemas.openxmlformats.org/drawingml/2006/main">
              <a:ext uri="{FF2B5EF4-FFF2-40B4-BE49-F238E27FC236}">
                <a16:creationId xmlns:a16="http://schemas.microsoft.com/office/drawing/2014/main" id="{C856FD19-4997-4231-8D62-99B09722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01" y="8705850"/>
            <a:ext cx="192024" cy="266700"/>
          </a:xfrm>
          <a:custGeom xmlns:a="http://schemas.openxmlformats.org/drawingml/2006/main">
            <a:pathLst>
              <a:path w="192024" h="266700">
                <a:moveTo>
                  <a:pt x="0" y="266700"/>
                </a:moveTo>
                <a:lnTo>
                  <a:pt x="192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60" name="line-58">
            <a:extLst xmlns:a="http://schemas.openxmlformats.org/drawingml/2006/main">
              <a:ext uri="{FF2B5EF4-FFF2-40B4-BE49-F238E27FC236}">
                <a16:creationId xmlns:a16="http://schemas.microsoft.com/office/drawing/2014/main" id="{DDCE37A4-F72D-4DD1-BD35-7E70A47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852535"/>
            <a:ext cx="74676" cy="120015"/>
          </a:xfrm>
          <a:custGeom xmlns:a="http://schemas.openxmlformats.org/drawingml/2006/main">
            <a:pathLst>
              <a:path w="74676" h="120015">
                <a:moveTo>
                  <a:pt x="0" y="0"/>
                </a:moveTo>
                <a:lnTo>
                  <a:pt x="74676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61" name="line-59">
            <a:extLst xmlns:a="http://schemas.openxmlformats.org/drawingml/2006/main">
              <a:ext uri="{FF2B5EF4-FFF2-40B4-BE49-F238E27FC236}">
                <a16:creationId xmlns:a16="http://schemas.microsoft.com/office/drawing/2014/main" id="{47E15672-4D88-43BF-91D2-F343826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8705850"/>
            <a:ext cx="192024" cy="266700"/>
          </a:xfrm>
          <a:custGeom xmlns:a="http://schemas.openxmlformats.org/drawingml/2006/main">
            <a:pathLst>
              <a:path w="192024" h="266700">
                <a:moveTo>
                  <a:pt x="0" y="266700"/>
                </a:moveTo>
                <a:lnTo>
                  <a:pt x="192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62" name=" stem">
            <a:extLst xmlns:a="http://schemas.openxmlformats.org/drawingml/2006/main">
              <a:ext uri="{FF2B5EF4-FFF2-40B4-BE49-F238E27FC236}">
                <a16:creationId xmlns:a16="http://schemas.microsoft.com/office/drawing/2014/main" id="{3461FE15-393C-4F4B-A851-B67E7500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372600"/>
            <a:ext cx="5638800" cy="9525"/>
          </a:xfrm>
          <a:custGeom xmlns:a="http://schemas.openxmlformats.org/drawingml/2006/main">
            <a:pathLst>
              <a:path w="5638800" h="9525">
                <a:moveTo>
                  <a:pt x="0" y="0"/>
                </a:moveTo>
                <a:lnTo>
                  <a:pt x="56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01010"/>
            </a:solidFill>
            <a:prstDash val="solid"/>
          </a:ln>
        </p:spPr>
      </p:sp>
      <p:sp>
        <p:nvSpPr>
          <p:cNvPr id="163" name=" arrowhead">
            <a:extLst xmlns:a="http://schemas.openxmlformats.org/drawingml/2006/main">
              <a:ext uri="{FF2B5EF4-FFF2-40B4-BE49-F238E27FC236}">
                <a16:creationId xmlns:a16="http://schemas.microsoft.com/office/drawing/2014/main" id="{199EA626-2FCE-4A97-8D51-6DA22E8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9281922"/>
            <a:ext cx="161925" cy="181356"/>
          </a:xfrm>
          <a:custGeom xmlns:a="http://schemas.openxmlformats.org/drawingml/2006/main">
            <a:pathLst>
              <a:path w="161925" h="181356">
                <a:moveTo>
                  <a:pt x="161925" y="90678"/>
                </a:moveTo>
                <a:lnTo>
                  <a:pt x="0" y="1813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64" name="line-60">
            <a:extLst xmlns:a="http://schemas.openxmlformats.org/drawingml/2006/main">
              <a:ext uri="{FF2B5EF4-FFF2-40B4-BE49-F238E27FC236}">
                <a16:creationId xmlns:a16="http://schemas.microsoft.com/office/drawing/2014/main" id="{CC19C504-30F8-4E68-A1FD-2E1840F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267825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65" name="t">
            <a:extLst xmlns:a="http://schemas.openxmlformats.org/drawingml/2006/main">
              <a:ext uri="{FF2B5EF4-FFF2-40B4-BE49-F238E27FC236}">
                <a16:creationId xmlns:a16="http://schemas.microsoft.com/office/drawing/2014/main" id="{1AD31EEE-D9F3-457B-8097-94826355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429750"/>
            <a:ext cx="257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66" name="0">
            <a:extLst xmlns:a="http://schemas.openxmlformats.org/drawingml/2006/main">
              <a:ext uri="{FF2B5EF4-FFF2-40B4-BE49-F238E27FC236}">
                <a16:creationId xmlns:a16="http://schemas.microsoft.com/office/drawing/2014/main" id="{C461D4A9-CEB5-4317-9B6D-BC10F63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610725"/>
            <a:ext cx="180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67" name="Execution steps">
            <a:extLst xmlns:a="http://schemas.openxmlformats.org/drawingml/2006/main">
              <a:ext uri="{FF2B5EF4-FFF2-40B4-BE49-F238E27FC236}">
                <a16:creationId xmlns:a16="http://schemas.microsoft.com/office/drawing/2014/main" id="{57911E4B-0EB9-4104-96EB-09F67305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921067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Execution steps</a:t>
            </a:r>
          </a:p>
        </p:txBody>
      </p:sp>
      <p:sp>
        <p:nvSpPr>
          <p:cNvPr id="168" name="Better ordering meets both TTFT deadlines">
            <a:extLst xmlns:a="http://schemas.openxmlformats.org/drawingml/2006/main">
              <a:ext uri="{FF2B5EF4-FFF2-40B4-BE49-F238E27FC236}">
                <a16:creationId xmlns:a16="http://schemas.microsoft.com/office/drawing/2014/main" id="{276F55A5-59F2-4C5F-B00B-78777EF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9858375"/>
            <a:ext cx="801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Better ordering meets both TTFT deadlines</a:t>
            </a:r>
          </a:p>
        </p:txBody>
      </p:sp>
      <p:sp>
        <p:nvSpPr>
          <p:cNvPr id="169" name="Problem 2: Fixed budget ignores step time">
            <a:extLst xmlns:a="http://schemas.openxmlformats.org/drawingml/2006/main">
              <a:ext uri="{FF2B5EF4-FFF2-40B4-BE49-F238E27FC236}">
                <a16:creationId xmlns:a16="http://schemas.microsoft.com/office/drawing/2014/main" id="{B2776C89-7AE5-4B7B-881D-EFAA5FD9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48350"/>
            <a:ext cx="93345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70" name="rect-61">
            <a:extLst xmlns:a="http://schemas.openxmlformats.org/drawingml/2006/main">
              <a:ext uri="{FF2B5EF4-FFF2-40B4-BE49-F238E27FC236}">
                <a16:creationId xmlns:a16="http://schemas.microsoft.com/office/drawing/2014/main" id="{41E6B1C6-8416-4BAB-849A-73041EE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48350"/>
            <a:ext cx="933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171" name="Problem 2: Fixed budget ignores step time">
            <a:extLst xmlns:a="http://schemas.openxmlformats.org/drawingml/2006/main">
              <a:ext uri="{FF2B5EF4-FFF2-40B4-BE49-F238E27FC236}">
                <a16:creationId xmlns:a16="http://schemas.microsoft.com/office/drawing/2014/main" id="{1EA399D2-29D1-41B8-8196-15EDADD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43600"/>
            <a:ext cx="8505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Problem 2: Fixed budget ignores step time</a:t>
            </a:r>
          </a:p>
        </p:txBody>
      </p:sp>
      <p:sp>
        <p:nvSpPr>
          <p:cNvPr id="172" name="Token cap: 2048 (illustrative)">
            <a:extLst xmlns:a="http://schemas.openxmlformats.org/drawingml/2006/main">
              <a:ext uri="{FF2B5EF4-FFF2-40B4-BE49-F238E27FC236}">
                <a16:creationId xmlns:a16="http://schemas.microsoft.com/office/drawing/2014/main" id="{5324C118-E3B5-4F60-81EF-9CA74FC2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505575"/>
            <a:ext cx="511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cap: 2048 (illustrative)</a:t>
            </a:r>
          </a:p>
        </p:txBody>
      </p:sp>
      <p:sp>
        <p:nvSpPr>
          <p:cNvPr id="173" name="Batch composition">
            <a:extLst xmlns:a="http://schemas.openxmlformats.org/drawingml/2006/main">
              <a:ext uri="{FF2B5EF4-FFF2-40B4-BE49-F238E27FC236}">
                <a16:creationId xmlns:a16="http://schemas.microsoft.com/office/drawing/2014/main" id="{05553189-17A4-44C3-8A94-4E67FD3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91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Batch composition</a:t>
            </a:r>
          </a:p>
        </p:txBody>
      </p:sp>
      <p:sp>
        <p:nvSpPr>
          <p:cNvPr id="174" name="Step time">
            <a:extLst xmlns:a="http://schemas.openxmlformats.org/drawingml/2006/main">
              <a:ext uri="{FF2B5EF4-FFF2-40B4-BE49-F238E27FC236}">
                <a16:creationId xmlns:a16="http://schemas.microsoft.com/office/drawing/2014/main" id="{BEC5B8E5-FB5B-4A81-852C-D4D87C31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791325"/>
            <a:ext cx="2200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Step time</a:t>
            </a:r>
          </a:p>
        </p:txBody>
      </p:sp>
      <p:sp>
        <p:nvSpPr>
          <p:cNvPr id="175" name="TPOT SLO">
            <a:extLst xmlns:a="http://schemas.openxmlformats.org/drawingml/2006/main">
              <a:ext uri="{FF2B5EF4-FFF2-40B4-BE49-F238E27FC236}">
                <a16:creationId xmlns:a16="http://schemas.microsoft.com/office/drawing/2014/main" id="{5C622083-3AF0-47CB-9E8B-78533163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7077075"/>
            <a:ext cx="178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TPOT SLO</a:t>
            </a:r>
          </a:p>
        </p:txBody>
      </p:sp>
      <p:sp>
        <p:nvSpPr>
          <p:cNvPr id="176" name="1: Fill cap">
            <a:extLst xmlns:a="http://schemas.openxmlformats.org/drawingml/2006/main">
              <a:ext uri="{FF2B5EF4-FFF2-40B4-BE49-F238E27FC236}">
                <a16:creationId xmlns:a16="http://schemas.microsoft.com/office/drawing/2014/main" id="{5A613D35-E2B1-4E04-85E6-B4CE834C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50570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1: Fill cap</a:t>
            </a:r>
          </a:p>
        </p:txBody>
      </p:sp>
      <p:sp>
        <p:nvSpPr>
          <p:cNvPr id="177" name="2: Fewer tokens">
            <a:extLst xmlns:a="http://schemas.openxmlformats.org/drawingml/2006/main">
              <a:ext uri="{FF2B5EF4-FFF2-40B4-BE49-F238E27FC236}">
                <a16:creationId xmlns:a16="http://schemas.microsoft.com/office/drawing/2014/main" id="{740EBDE9-8021-4D4D-9DD8-32F840D4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15340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2: Fewer tokens</a:t>
            </a:r>
          </a:p>
        </p:txBody>
      </p:sp>
      <p:sp>
        <p:nvSpPr>
          <p:cNvPr id="178" name="3: Change P/D">
            <a:extLst xmlns:a="http://schemas.openxmlformats.org/drawingml/2006/main">
              <a:ext uri="{FF2B5EF4-FFF2-40B4-BE49-F238E27FC236}">
                <a16:creationId xmlns:a16="http://schemas.microsoft.com/office/drawing/2014/main" id="{5E24C7C6-BAE9-451D-8F5D-838E20E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78205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3: Change P/D</a:t>
            </a:r>
          </a:p>
        </p:txBody>
      </p:sp>
      <p:sp>
        <p:nvSpPr>
          <p:cNvPr id="179" name="rect-62">
            <a:extLst xmlns:a="http://schemas.openxmlformats.org/drawingml/2006/main">
              <a:ext uri="{FF2B5EF4-FFF2-40B4-BE49-F238E27FC236}">
                <a16:creationId xmlns:a16="http://schemas.microsoft.com/office/drawing/2014/main" id="{8F9F731F-73C8-411B-94FA-E6026A12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505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0" name="rect-63">
            <a:extLst xmlns:a="http://schemas.openxmlformats.org/drawingml/2006/main">
              <a:ext uri="{FF2B5EF4-FFF2-40B4-BE49-F238E27FC236}">
                <a16:creationId xmlns:a16="http://schemas.microsoft.com/office/drawing/2014/main" id="{136EDA80-8B51-4CCB-9340-04DA5EE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7505700"/>
            <a:ext cx="1971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1" name="D">
            <a:extLst xmlns:a="http://schemas.openxmlformats.org/drawingml/2006/main">
              <a:ext uri="{FF2B5EF4-FFF2-40B4-BE49-F238E27FC236}">
                <a16:creationId xmlns:a16="http://schemas.microsoft.com/office/drawing/2014/main" id="{A364EFE6-F566-4A34-8CC3-E1D72FA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75152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82" name="P">
            <a:extLst xmlns:a="http://schemas.openxmlformats.org/drawingml/2006/main">
              <a:ext uri="{FF2B5EF4-FFF2-40B4-BE49-F238E27FC236}">
                <a16:creationId xmlns:a16="http://schemas.microsoft.com/office/drawing/2014/main" id="{71EF8BD9-7020-473D-82CC-346E6D7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75152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3" name="rect-64">
            <a:extLst xmlns:a="http://schemas.openxmlformats.org/drawingml/2006/main">
              <a:ext uri="{FF2B5EF4-FFF2-40B4-BE49-F238E27FC236}">
                <a16:creationId xmlns:a16="http://schemas.microsoft.com/office/drawing/2014/main" id="{5E129996-268E-44E3-A088-B531EBE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143875"/>
            <a:ext cx="118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4" name="rect-65">
            <a:extLst xmlns:a="http://schemas.openxmlformats.org/drawingml/2006/main">
              <a:ext uri="{FF2B5EF4-FFF2-40B4-BE49-F238E27FC236}">
                <a16:creationId xmlns:a16="http://schemas.microsoft.com/office/drawing/2014/main" id="{0A5FB9CE-8E33-4D47-8579-C8DC0E6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8143875"/>
            <a:ext cx="1047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5" name="rect-66">
            <a:extLst xmlns:a="http://schemas.openxmlformats.org/drawingml/2006/main">
              <a:ext uri="{FF2B5EF4-FFF2-40B4-BE49-F238E27FC236}">
                <a16:creationId xmlns:a16="http://schemas.microsoft.com/office/drawing/2014/main" id="{C6A32FC1-B3F2-4ED3-90CC-4E01627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8143875"/>
            <a:ext cx="11144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6" name="D">
            <a:extLst xmlns:a="http://schemas.openxmlformats.org/drawingml/2006/main">
              <a:ext uri="{FF2B5EF4-FFF2-40B4-BE49-F238E27FC236}">
                <a16:creationId xmlns:a16="http://schemas.microsoft.com/office/drawing/2014/main" id="{E749061E-392C-4FEE-B62A-423EB67E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153400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87" name="P">
            <a:extLst xmlns:a="http://schemas.openxmlformats.org/drawingml/2006/main">
              <a:ext uri="{FF2B5EF4-FFF2-40B4-BE49-F238E27FC236}">
                <a16:creationId xmlns:a16="http://schemas.microsoft.com/office/drawing/2014/main" id="{0D9439D6-57F6-4EFF-ACFF-1D3CD66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8153400"/>
            <a:ext cx="97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8" name="unused">
            <a:extLst xmlns:a="http://schemas.openxmlformats.org/drawingml/2006/main">
              <a:ext uri="{FF2B5EF4-FFF2-40B4-BE49-F238E27FC236}">
                <a16:creationId xmlns:a16="http://schemas.microsoft.com/office/drawing/2014/main" id="{9B66C60B-8841-4455-8677-D0C4DB62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8153400"/>
            <a:ext cx="97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unused</a:t>
            </a:r>
          </a:p>
        </p:txBody>
      </p:sp>
      <p:sp>
        <p:nvSpPr>
          <p:cNvPr id="189" name="rect-67">
            <a:extLst xmlns:a="http://schemas.openxmlformats.org/drawingml/2006/main">
              <a:ext uri="{FF2B5EF4-FFF2-40B4-BE49-F238E27FC236}">
                <a16:creationId xmlns:a16="http://schemas.microsoft.com/office/drawing/2014/main" id="{8FA4CED8-90BE-4B33-8DB2-6C5948AF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772525"/>
            <a:ext cx="2038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0" name="rect-68">
            <a:extLst xmlns:a="http://schemas.openxmlformats.org/drawingml/2006/main">
              <a:ext uri="{FF2B5EF4-FFF2-40B4-BE49-F238E27FC236}">
                <a16:creationId xmlns:a16="http://schemas.microsoft.com/office/drawing/2014/main" id="{895D70C8-753E-4A89-AEAC-651E53FB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8772525"/>
            <a:ext cx="1304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1" name="D">
            <a:extLst xmlns:a="http://schemas.openxmlformats.org/drawingml/2006/main">
              <a:ext uri="{FF2B5EF4-FFF2-40B4-BE49-F238E27FC236}">
                <a16:creationId xmlns:a16="http://schemas.microsoft.com/office/drawing/2014/main" id="{C9DABD02-F094-4CED-B240-979D6C63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782050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92" name="P">
            <a:extLst xmlns:a="http://schemas.openxmlformats.org/drawingml/2006/main">
              <a:ext uri="{FF2B5EF4-FFF2-40B4-BE49-F238E27FC236}">
                <a16:creationId xmlns:a16="http://schemas.microsoft.com/office/drawing/2014/main" id="{5E7AE7C0-51A9-4B27-9DD4-571DF1FA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782050"/>
            <a:ext cx="119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93" name="line-69">
            <a:extLst xmlns:a="http://schemas.openxmlformats.org/drawingml/2006/main">
              <a:ext uri="{FF2B5EF4-FFF2-40B4-BE49-F238E27FC236}">
                <a16:creationId xmlns:a16="http://schemas.microsoft.com/office/drawing/2014/main" id="{BE619D63-D693-4E1E-BBDF-2E241CE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74104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  <a:prstDash val="solid"/>
          </a:ln>
        </p:spPr>
      </p:sp>
      <p:sp>
        <p:nvSpPr>
          <p:cNvPr id="194" name="rect-70">
            <a:extLst xmlns:a="http://schemas.openxmlformats.org/drawingml/2006/main">
              <a:ext uri="{FF2B5EF4-FFF2-40B4-BE49-F238E27FC236}">
                <a16:creationId xmlns:a16="http://schemas.microsoft.com/office/drawing/2014/main" id="{4156E05E-FE6A-4E90-B24E-B6D92F5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750570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5" name="rect-71">
            <a:extLst xmlns:a="http://schemas.openxmlformats.org/drawingml/2006/main">
              <a:ext uri="{FF2B5EF4-FFF2-40B4-BE49-F238E27FC236}">
                <a16:creationId xmlns:a16="http://schemas.microsoft.com/office/drawing/2014/main" id="{34A56734-6B2F-400A-9DBD-81A0BABB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143875"/>
            <a:ext cx="1533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6" name="rect-72">
            <a:extLst xmlns:a="http://schemas.openxmlformats.org/drawingml/2006/main">
              <a:ext uri="{FF2B5EF4-FFF2-40B4-BE49-F238E27FC236}">
                <a16:creationId xmlns:a16="http://schemas.microsoft.com/office/drawing/2014/main" id="{24734127-E93D-417C-B581-54A3B149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772525"/>
            <a:ext cx="1762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7" name="TPOT SLO deadline">
            <a:extLst xmlns:a="http://schemas.openxmlformats.org/drawingml/2006/main">
              <a:ext uri="{FF2B5EF4-FFF2-40B4-BE49-F238E27FC236}">
                <a16:creationId xmlns:a16="http://schemas.microsoft.com/office/drawing/2014/main" id="{A5027E5B-AF28-4C5C-A505-6A88EBA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7400925"/>
            <a:ext cx="9525" cy="1933575"/>
          </a:xfrm>
          <a:custGeom xmlns:a="http://schemas.openxmlformats.org/drawingml/2006/main">
            <a:pathLst>
              <a:path w="9525" h="1933575">
                <a:moveTo>
                  <a:pt x="0" y="0"/>
                </a:moveTo>
                <a:lnTo>
                  <a:pt x="0" y="19335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98" name="line-73">
            <a:extLst xmlns:a="http://schemas.openxmlformats.org/drawingml/2006/main">
              <a:ext uri="{FF2B5EF4-FFF2-40B4-BE49-F238E27FC236}">
                <a16:creationId xmlns:a16="http://schemas.microsoft.com/office/drawing/2014/main" id="{ABCC2ECC-6263-499A-A48F-106EA06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7572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99" name="line-74">
            <a:extLst xmlns:a="http://schemas.openxmlformats.org/drawingml/2006/main">
              <a:ext uri="{FF2B5EF4-FFF2-40B4-BE49-F238E27FC236}">
                <a16:creationId xmlns:a16="http://schemas.microsoft.com/office/drawing/2014/main" id="{BCF2BEFC-6257-4A04-8D6E-9408607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7572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200" name="line-75">
            <a:extLst xmlns:a="http://schemas.openxmlformats.org/drawingml/2006/main">
              <a:ext uri="{FF2B5EF4-FFF2-40B4-BE49-F238E27FC236}">
                <a16:creationId xmlns:a16="http://schemas.microsoft.com/office/drawing/2014/main" id="{4E9AEAB3-45BB-4FFF-B436-39D27E9D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8313896"/>
            <a:ext cx="72009" cy="115729"/>
          </a:xfrm>
          <a:custGeom xmlns:a="http://schemas.openxmlformats.org/drawingml/2006/main">
            <a:pathLst>
              <a:path w="72009" h="115729">
                <a:moveTo>
                  <a:pt x="0" y="0"/>
                </a:moveTo>
                <a:lnTo>
                  <a:pt x="72009" y="115729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1" name="line-76">
            <a:extLst xmlns:a="http://schemas.openxmlformats.org/drawingml/2006/main">
              <a:ext uri="{FF2B5EF4-FFF2-40B4-BE49-F238E27FC236}">
                <a16:creationId xmlns:a16="http://schemas.microsoft.com/office/drawing/2014/main" id="{02F82F7C-8D5A-4DB2-99E9-7DE1FBA9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634" y="8172450"/>
            <a:ext cx="185166" cy="257175"/>
          </a:xfrm>
          <a:custGeom xmlns:a="http://schemas.openxmlformats.org/drawingml/2006/main">
            <a:pathLst>
              <a:path w="185166" h="257175">
                <a:moveTo>
                  <a:pt x="0" y="257175"/>
                </a:moveTo>
                <a:lnTo>
                  <a:pt x="185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2" name="line-77">
            <a:extLst xmlns:a="http://schemas.openxmlformats.org/drawingml/2006/main">
              <a:ext uri="{FF2B5EF4-FFF2-40B4-BE49-F238E27FC236}">
                <a16:creationId xmlns:a16="http://schemas.microsoft.com/office/drawing/2014/main" id="{C227FAD8-5C98-48DB-8690-6745B60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75" y="8961596"/>
            <a:ext cx="72009" cy="115729"/>
          </a:xfrm>
          <a:custGeom xmlns:a="http://schemas.openxmlformats.org/drawingml/2006/main">
            <a:pathLst>
              <a:path w="72009" h="115729">
                <a:moveTo>
                  <a:pt x="0" y="0"/>
                </a:moveTo>
                <a:lnTo>
                  <a:pt x="72009" y="115729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3" name="line-78">
            <a:extLst xmlns:a="http://schemas.openxmlformats.org/drawingml/2006/main">
              <a:ext uri="{FF2B5EF4-FFF2-40B4-BE49-F238E27FC236}">
                <a16:creationId xmlns:a16="http://schemas.microsoft.com/office/drawing/2014/main" id="{21456D46-B426-44ED-B70C-2A49639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184" y="8820150"/>
            <a:ext cx="185166" cy="257175"/>
          </a:xfrm>
          <a:custGeom xmlns:a="http://schemas.openxmlformats.org/drawingml/2006/main">
            <a:pathLst>
              <a:path w="185166" h="257175">
                <a:moveTo>
                  <a:pt x="0" y="257175"/>
                </a:moveTo>
                <a:lnTo>
                  <a:pt x="185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4" name="rect-79">
            <a:extLst xmlns:a="http://schemas.openxmlformats.org/drawingml/2006/main">
              <a:ext uri="{FF2B5EF4-FFF2-40B4-BE49-F238E27FC236}">
                <a16:creationId xmlns:a16="http://schemas.microsoft.com/office/drawing/2014/main" id="{6DD21EDC-CAC9-4349-BBC9-A6CC54AC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5" name="Decode">
            <a:extLst xmlns:a="http://schemas.openxmlformats.org/drawingml/2006/main">
              <a:ext uri="{FF2B5EF4-FFF2-40B4-BE49-F238E27FC236}">
                <a16:creationId xmlns:a16="http://schemas.microsoft.com/office/drawing/2014/main" id="{681D0559-0AF5-48C4-9554-91CE6AE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9429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Decode</a:t>
            </a:r>
          </a:p>
        </p:txBody>
      </p:sp>
      <p:sp>
        <p:nvSpPr>
          <p:cNvPr id="206" name="rect-80">
            <a:extLst xmlns:a="http://schemas.openxmlformats.org/drawingml/2006/main">
              <a:ext uri="{FF2B5EF4-FFF2-40B4-BE49-F238E27FC236}">
                <a16:creationId xmlns:a16="http://schemas.microsoft.com/office/drawing/2014/main" id="{5D7D629A-BB3F-4E9E-87ED-090E32B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7" name="Prefill">
            <a:extLst xmlns:a="http://schemas.openxmlformats.org/drawingml/2006/main">
              <a:ext uri="{FF2B5EF4-FFF2-40B4-BE49-F238E27FC236}">
                <a16:creationId xmlns:a16="http://schemas.microsoft.com/office/drawing/2014/main" id="{582BF8B0-676A-4CAB-B992-C4E377F7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9429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</a:t>
            </a:r>
          </a:p>
        </p:txBody>
      </p:sp>
      <p:sp>
        <p:nvSpPr>
          <p:cNvPr id="208" name="rect-81">
            <a:extLst xmlns:a="http://schemas.openxmlformats.org/drawingml/2006/main">
              <a:ext uri="{FF2B5EF4-FFF2-40B4-BE49-F238E27FC236}">
                <a16:creationId xmlns:a16="http://schemas.microsoft.com/office/drawing/2014/main" id="{04CC4525-FE9C-4842-9EF0-FE10750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9" name="Illustrative; workload-dependent">
            <a:extLst xmlns:a="http://schemas.openxmlformats.org/drawingml/2006/main">
              <a:ext uri="{FF2B5EF4-FFF2-40B4-BE49-F238E27FC236}">
                <a16:creationId xmlns:a16="http://schemas.microsoft.com/office/drawing/2014/main" id="{45A04096-C567-43D4-BF2D-3B0AC8BF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942975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Illustrative; workload-dependent</a:t>
            </a:r>
          </a:p>
        </p:txBody>
      </p:sp>
      <p:sp>
        <p:nvSpPr>
          <p:cNvPr id="210" name="Token count and P/D mix jointly affect TPOT">
            <a:extLst xmlns:a="http://schemas.openxmlformats.org/drawingml/2006/main">
              <a:ext uri="{FF2B5EF4-FFF2-40B4-BE49-F238E27FC236}">
                <a16:creationId xmlns:a16="http://schemas.microsoft.com/office/drawing/2014/main" id="{CEFCFE1C-5332-41E0-8ECE-E1221A4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858375"/>
            <a:ext cx="8086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count and P/D mix jointly affect TPOT</a:t>
            </a:r>
          </a:p>
        </p:txBody>
      </p:sp>
    </p:spTree>
    <p:extLst>
      <p:ext uri="{BB962C8B-B14F-4D97-AF65-F5344CB8AC3E}">
        <p14:creationId xmlns:p14="http://schemas.microsoft.com/office/powerpoint/2010/main" val="902283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2026-10-05T02:38:49.9730000Z</dcterms:created>
  <dcterms:modified xsi:type="dcterms:W3CDTF">2026-10-05T02:38:49.9730000Z</dcterms:modified>
</coreProperties>
</file>