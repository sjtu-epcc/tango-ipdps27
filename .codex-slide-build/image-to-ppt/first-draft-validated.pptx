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2c011f5f3724642" /><Relationship Type="http://schemas.openxmlformats.org/officeDocument/2006/relationships/extended-properties" Target="/docProps/app.xml" Id="R3d2d7a48d89d4a8d" /><Relationship Type="http://schemas.openxmlformats.org/officeDocument/2006/relationships/officeDocument" Target="/ppt/presentation.xml" Id="R645aa307c4a9407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d4ccd02b81944d7"/>
  </p:sldMasterIdLst>
  <p:notesMasterIdLst>
    <p:notesMasterId xmlns:r="http://schemas.openxmlformats.org/officeDocument/2006/relationships" r:id="R818ddd43d48d4be4"/>
  </p:notesMasterIdLst>
  <p:sldIdLst>
    <p:sldId xmlns:r="http://schemas.openxmlformats.org/officeDocument/2006/relationships" id="256" r:id="Rddbd3d74f1df412b"/>
  </p:sldIdLst>
  <p:sldSz cx="19507200" cy="108966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536ba9a0fb54776" /><Relationship Type="http://schemas.openxmlformats.org/officeDocument/2006/relationships/slideMaster" Target="/ppt/slideMasters/slideMaster1.xml" Id="R4d4ccd02b81944d7" /><Relationship Type="http://schemas.openxmlformats.org/officeDocument/2006/relationships/notesMaster" Target="/ppt/notesMasters/notesMaster1.xml" Id="R818ddd43d48d4be4" /><Relationship Type="http://schemas.openxmlformats.org/officeDocument/2006/relationships/presProps" Target="/ppt/presProps.xml" Id="Rb2ba58ba7d1b438c" /><Relationship Type="http://schemas.openxmlformats.org/officeDocument/2006/relationships/tableStyles" Target="/ppt/tableStyles.xml" Id="Ra895ef03d9ba466f" /><Relationship Type="http://schemas.openxmlformats.org/officeDocument/2006/relationships/slide" Target="/ppt/slides/slide1.xml" Id="Rddbd3d74f1df412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1e7ce2244944c5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c88d845d93446ba" /><Relationship Type="http://schemas.openxmlformats.org/officeDocument/2006/relationships/notesMaster" Target="/ppt/notesMasters/notesMaster1.xml" Id="R42c793cf5406487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user-supplied scheduling diagram image. Original English labels and illustrative values reproduced. Diagram shapes, text, timelines, and bars are native editable PowerPoint objects.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ef809c002b45e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c6405358df64137" /><Relationship Type="http://schemas.openxmlformats.org/officeDocument/2006/relationships/slideLayout" Target="/ppt/slideLayouts/slideLayout1.xml" Id="Rd90279d025fa49b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90279d025fa49b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f92d617c2f4afe" /><Relationship Type="http://schemas.openxmlformats.org/officeDocument/2006/relationships/notesSlide" Target="/ppt/notesSlides/notesSlide1.xml" Id="R3d6d2d6d21ab4a5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0" name="line-1">
            <a:extLst xmlns:a="http://schemas.openxmlformats.org/drawingml/2006/main">
              <a:ext uri="{FF2B5EF4-FFF2-40B4-BE49-F238E27FC236}">
                <a16:creationId xmlns:a16="http://schemas.microsoft.com/office/drawing/2014/main" id="{9DDE794B-48AC-4ED8-9434-AB526600A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73800" y="4114800"/>
            <a:ext cx="323850" cy="9525"/>
          </a:xfrm>
          <a:custGeom xmlns:a="http://schemas.openxmlformats.org/drawingml/2006/main">
            <a:pathLst>
              <a:path w="323850" h="9525">
                <a:moveTo>
                  <a:pt x="0" y="0"/>
                </a:moveTo>
                <a:lnTo>
                  <a:pt x="3238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0480">
            <a:solidFill>
              <a:srgbClr val="101010"/>
            </a:solidFill>
            <a:prstDash val="solid"/>
          </a:ln>
        </p:spPr>
      </p:sp>
      <p:sp>
        <p:nvSpPr>
          <p:cNvPr id="2" name="line-2">
            <a:extLst xmlns:a="http://schemas.openxmlformats.org/drawingml/2006/main">
              <a:ext uri="{FF2B5EF4-FFF2-40B4-BE49-F238E27FC236}">
                <a16:creationId xmlns:a16="http://schemas.microsoft.com/office/drawing/2014/main" id="{09C873D3-B64F-4A44-8FFD-35A48F8D8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97650" y="581025"/>
            <a:ext cx="9525" cy="3533775"/>
          </a:xfrm>
          <a:custGeom xmlns:a="http://schemas.openxmlformats.org/drawingml/2006/main">
            <a:pathLst>
              <a:path w="9525" h="3533775">
                <a:moveTo>
                  <a:pt x="0" y="35337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0480">
            <a:solidFill>
              <a:srgbClr val="101010"/>
            </a:solidFill>
            <a:prstDash val="solid"/>
          </a:ln>
        </p:spPr>
      </p:sp>
      <p:sp>
        <p:nvSpPr>
          <p:cNvPr id="3" name="line-3">
            <a:extLst xmlns:a="http://schemas.openxmlformats.org/drawingml/2006/main">
              <a:ext uri="{FF2B5EF4-FFF2-40B4-BE49-F238E27FC236}">
                <a16:creationId xmlns:a16="http://schemas.microsoft.com/office/drawing/2014/main" id="{3176FAE5-F90F-4812-8BE2-5EAA3E84C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581025"/>
            <a:ext cx="12982575" cy="9525"/>
          </a:xfrm>
          <a:custGeom xmlns:a="http://schemas.openxmlformats.org/drawingml/2006/main">
            <a:pathLst>
              <a:path w="12982575" h="9525">
                <a:moveTo>
                  <a:pt x="12982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0480">
            <a:solidFill>
              <a:srgbClr val="101010"/>
            </a:solidFill>
            <a:prstDash val="solid"/>
          </a:ln>
        </p:spPr>
      </p:sp>
      <p:sp>
        <p:nvSpPr>
          <p:cNvPr id="4" name="Next step stem">
            <a:extLst xmlns:a="http://schemas.openxmlformats.org/drawingml/2006/main">
              <a:ext uri="{FF2B5EF4-FFF2-40B4-BE49-F238E27FC236}">
                <a16:creationId xmlns:a16="http://schemas.microsoft.com/office/drawing/2014/main" id="{D5CAA5C3-178F-42D3-8901-AE786E3D4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581025"/>
            <a:ext cx="9525" cy="214789"/>
          </a:xfrm>
          <a:custGeom xmlns:a="http://schemas.openxmlformats.org/drawingml/2006/main">
            <a:pathLst>
              <a:path w="9525" h="214789">
                <a:moveTo>
                  <a:pt x="0" y="0"/>
                </a:moveTo>
                <a:lnTo>
                  <a:pt x="0" y="214789"/>
                </a:lnTo>
              </a:path>
            </a:pathLst>
          </a:custGeom>
          <a:noFill xmlns:a="http://schemas.openxmlformats.org/drawingml/2006/main"/>
          <a:ln xmlns:a="http://schemas.openxmlformats.org/drawingml/2006/main" w="30480">
            <a:solidFill>
              <a:srgbClr val="101010"/>
            </a:solidFill>
            <a:prstDash val="solid"/>
          </a:ln>
        </p:spPr>
      </p:sp>
      <p:sp>
        <p:nvSpPr>
          <p:cNvPr id="5" name="Next step arrowhead">
            <a:extLst xmlns:a="http://schemas.openxmlformats.org/drawingml/2006/main">
              <a:ext uri="{FF2B5EF4-FFF2-40B4-BE49-F238E27FC236}">
                <a16:creationId xmlns:a16="http://schemas.microsoft.com/office/drawing/2014/main" id="{0CABB2BB-C311-4A20-BCC0-BF4602DD4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6663" y="795814"/>
            <a:ext cx="196825" cy="175736"/>
          </a:xfrm>
          <a:custGeom xmlns:a="http://schemas.openxmlformats.org/drawingml/2006/main">
            <a:pathLst>
              <a:path w="196825" h="175736">
                <a:moveTo>
                  <a:pt x="98412" y="175736"/>
                </a:moveTo>
                <a:lnTo>
                  <a:pt x="0" y="0"/>
                </a:lnTo>
                <a:lnTo>
                  <a:pt x="196825" y="0"/>
                </a:lnTo>
                <a:close/>
              </a:path>
            </a:pathLst>
          </a:custGeom>
          <a:solidFill xmlns:a="http://schemas.openxmlformats.org/drawingml/2006/main">
            <a:srgbClr val="101010"/>
          </a:solidFill>
          <a:ln xmlns:a="http://schemas.openxmlformats.org/drawingml/2006/main" w="0">
            <a:noFill/>
          </a:ln>
        </p:spPr>
      </p:sp>
      <p:sp>
        <p:nvSpPr>
          <p:cNvPr id="6" name="Next step">
            <a:extLst xmlns:a="http://schemas.openxmlformats.org/drawingml/2006/main">
              <a:ext uri="{FF2B5EF4-FFF2-40B4-BE49-F238E27FC236}">
                <a16:creationId xmlns:a16="http://schemas.microsoft.com/office/drawing/2014/main" id="{755D3D75-F51A-4A0F-9E30-FC79FFDB9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85725"/>
            <a:ext cx="2238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625" b="1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25" b="1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rPr>
              <a:t>Next step</a:t>
            </a:r>
          </a:p>
        </p:txBody>
      </p:sp>
      <p:sp>
        <p:nvSpPr>
          <p:cNvPr id="7" name="Requests to temporal scheduling stem">
            <a:extLst xmlns:a="http://schemas.openxmlformats.org/drawingml/2006/main">
              <a:ext uri="{FF2B5EF4-FFF2-40B4-BE49-F238E27FC236}">
                <a16:creationId xmlns:a16="http://schemas.microsoft.com/office/drawing/2014/main" id="{09164491-53AC-441A-9138-757917AB3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2686050"/>
            <a:ext cx="257175" cy="9525"/>
          </a:xfrm>
          <a:custGeom xmlns:a="http://schemas.openxmlformats.org/drawingml/2006/main">
            <a:pathLst>
              <a:path w="257175" h="9525">
                <a:moveTo>
                  <a:pt x="0" y="0"/>
                </a:moveTo>
                <a:lnTo>
                  <a:pt x="2571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0480">
            <a:solidFill>
              <a:srgbClr val="101010"/>
            </a:solidFill>
            <a:prstDash val="solid"/>
          </a:ln>
        </p:spPr>
      </p:sp>
      <p:sp>
        <p:nvSpPr>
          <p:cNvPr id="8" name="Requests to temporal scheduling arrowhead">
            <a:extLst xmlns:a="http://schemas.openxmlformats.org/drawingml/2006/main">
              <a:ext uri="{FF2B5EF4-FFF2-40B4-BE49-F238E27FC236}">
                <a16:creationId xmlns:a16="http://schemas.microsoft.com/office/drawing/2014/main" id="{794114FA-FD17-4345-8FD3-BF92193A3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590038"/>
            <a:ext cx="171450" cy="192024"/>
          </a:xfrm>
          <a:custGeom xmlns:a="http://schemas.openxmlformats.org/drawingml/2006/main">
            <a:pathLst>
              <a:path w="171450" h="192024">
                <a:moveTo>
                  <a:pt x="171450" y="96012"/>
                </a:moveTo>
                <a:lnTo>
                  <a:pt x="0" y="19202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01010"/>
          </a:solidFill>
          <a:ln xmlns:a="http://schemas.openxmlformats.org/drawingml/2006/main" w="0">
            <a:noFill/>
          </a:ln>
        </p:spPr>
      </p:sp>
      <p:sp>
        <p:nvSpPr>
          <p:cNvPr id="9" name="Selected requests stem">
            <a:extLst xmlns:a="http://schemas.openxmlformats.org/drawingml/2006/main">
              <a:ext uri="{FF2B5EF4-FFF2-40B4-BE49-F238E27FC236}">
                <a16:creationId xmlns:a16="http://schemas.microsoft.com/office/drawing/2014/main" id="{D9A6DE63-B5A8-40DA-B3BC-D4B40243D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686050"/>
            <a:ext cx="609600" cy="9525"/>
          </a:xfrm>
          <a:custGeom xmlns:a="http://schemas.openxmlformats.org/drawingml/2006/main">
            <a:pathLst>
              <a:path w="609600" h="9525">
                <a:moveTo>
                  <a:pt x="0" y="0"/>
                </a:moveTo>
                <a:lnTo>
                  <a:pt x="609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0480">
            <a:solidFill>
              <a:srgbClr val="101010"/>
            </a:solidFill>
            <a:prstDash val="solid"/>
          </a:ln>
        </p:spPr>
      </p:sp>
      <p:sp>
        <p:nvSpPr>
          <p:cNvPr id="10" name="Selected requests arrowhead">
            <a:extLst xmlns:a="http://schemas.openxmlformats.org/drawingml/2006/main">
              <a:ext uri="{FF2B5EF4-FFF2-40B4-BE49-F238E27FC236}">
                <a16:creationId xmlns:a16="http://schemas.microsoft.com/office/drawing/2014/main" id="{6F297552-A98C-4D71-BCF8-91B068C9D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579370"/>
            <a:ext cx="190500" cy="213360"/>
          </a:xfrm>
          <a:custGeom xmlns:a="http://schemas.openxmlformats.org/drawingml/2006/main">
            <a:pathLst>
              <a:path w="190500" h="213360">
                <a:moveTo>
                  <a:pt x="190500" y="106680"/>
                </a:moveTo>
                <a:lnTo>
                  <a:pt x="0" y="21336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01010"/>
          </a:solidFill>
          <a:ln xmlns:a="http://schemas.openxmlformats.org/drawingml/2006/main" w="0">
            <a:noFill/>
          </a:ln>
        </p:spPr>
      </p:sp>
      <p:sp>
        <p:nvSpPr>
          <p:cNvPr id="11" name="Selected">
            <a:extLst xmlns:a="http://schemas.openxmlformats.org/drawingml/2006/main">
              <a:ext uri="{FF2B5EF4-FFF2-40B4-BE49-F238E27FC236}">
                <a16:creationId xmlns:a16="http://schemas.microsoft.com/office/drawing/2014/main" id="{E6A86D28-53D2-4575-AE39-CC52B54D4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2828925"/>
            <a:ext cx="7524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rPr>
              <a:t>Selected</a:t>
            </a:r>
          </a:p>
        </p:txBody>
      </p:sp>
      <p:sp>
        <p:nvSpPr>
          <p:cNvPr id="12" name="requests">
            <a:extLst xmlns:a="http://schemas.openxmlformats.org/drawingml/2006/main">
              <a:ext uri="{FF2B5EF4-FFF2-40B4-BE49-F238E27FC236}">
                <a16:creationId xmlns:a16="http://schemas.microsoft.com/office/drawing/2014/main" id="{EF7C9DA9-EFB7-4EB9-BC8E-7EF3BBB56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3105150"/>
            <a:ext cx="7524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rPr>
              <a:t>requests</a:t>
            </a:r>
          </a:p>
        </p:txBody>
      </p:sp>
      <p:sp>
        <p:nvSpPr>
          <p:cNvPr id="13" name="Mixed batch stem">
            <a:extLst xmlns:a="http://schemas.openxmlformats.org/drawingml/2006/main">
              <a:ext uri="{FF2B5EF4-FFF2-40B4-BE49-F238E27FC236}">
                <a16:creationId xmlns:a16="http://schemas.microsoft.com/office/drawing/2014/main" id="{E737989D-36CA-45BF-8A22-1352294E5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16225" y="2686050"/>
            <a:ext cx="485775" cy="9525"/>
          </a:xfrm>
          <a:custGeom xmlns:a="http://schemas.openxmlformats.org/drawingml/2006/main">
            <a:pathLst>
              <a:path w="485775" h="9525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0480">
            <a:solidFill>
              <a:srgbClr val="101010"/>
            </a:solidFill>
            <a:prstDash val="solid"/>
          </a:ln>
        </p:spPr>
      </p:sp>
      <p:sp>
        <p:nvSpPr>
          <p:cNvPr id="14" name="Mixed batch arrowhead">
            <a:extLst xmlns:a="http://schemas.openxmlformats.org/drawingml/2006/main">
              <a:ext uri="{FF2B5EF4-FFF2-40B4-BE49-F238E27FC236}">
                <a16:creationId xmlns:a16="http://schemas.microsoft.com/office/drawing/2014/main" id="{5EEE839B-7F23-4A22-9C65-313968EC4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0" y="2584704"/>
            <a:ext cx="180975" cy="202692"/>
          </a:xfrm>
          <a:custGeom xmlns:a="http://schemas.openxmlformats.org/drawingml/2006/main">
            <a:pathLst>
              <a:path w="180975" h="202692">
                <a:moveTo>
                  <a:pt x="180975" y="101346"/>
                </a:moveTo>
                <a:lnTo>
                  <a:pt x="0" y="20269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01010"/>
          </a:solidFill>
          <a:ln xmlns:a="http://schemas.openxmlformats.org/drawingml/2006/main" w="0">
            <a:noFill/>
          </a:ln>
        </p:spPr>
      </p:sp>
      <p:sp>
        <p:nvSpPr>
          <p:cNvPr id="15" name="Mixed">
            <a:extLst xmlns:a="http://schemas.openxmlformats.org/drawingml/2006/main">
              <a:ext uri="{FF2B5EF4-FFF2-40B4-BE49-F238E27FC236}">
                <a16:creationId xmlns:a16="http://schemas.microsoft.com/office/drawing/2014/main" id="{0B3CC55F-E5DB-404A-BCE3-674A6E30B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0" y="2838450"/>
            <a:ext cx="6286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rPr>
              <a:t>Mixed</a:t>
            </a:r>
          </a:p>
        </p:txBody>
      </p:sp>
      <p:sp>
        <p:nvSpPr>
          <p:cNvPr id="16" name="batch">
            <a:extLst xmlns:a="http://schemas.openxmlformats.org/drawingml/2006/main">
              <a:ext uri="{FF2B5EF4-FFF2-40B4-BE49-F238E27FC236}">
                <a16:creationId xmlns:a16="http://schemas.microsoft.com/office/drawing/2014/main" id="{11B5E970-AC0C-47D6-A1A9-48A8B7335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0" y="3124200"/>
            <a:ext cx="6286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rPr>
              <a:t>batch</a:t>
            </a:r>
          </a:p>
        </p:txBody>
      </p:sp>
      <p:sp>
        <p:nvSpPr>
          <p:cNvPr id="17" name="Execute to update stem">
            <a:extLst xmlns:a="http://schemas.openxmlformats.org/drawingml/2006/main">
              <a:ext uri="{FF2B5EF4-FFF2-40B4-BE49-F238E27FC236}">
                <a16:creationId xmlns:a16="http://schemas.microsoft.com/office/drawing/2014/main" id="{313D88B0-541D-42B7-8C13-7301F35CB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92675" y="3362325"/>
            <a:ext cx="9525" cy="228600"/>
          </a:xfrm>
          <a:custGeom xmlns:a="http://schemas.openxmlformats.org/drawingml/2006/main">
            <a:pathLst>
              <a:path w="9525" h="228600">
                <a:moveTo>
                  <a:pt x="0" y="0"/>
                </a:moveTo>
                <a:lnTo>
                  <a:pt x="0" y="228600"/>
                </a:lnTo>
              </a:path>
            </a:pathLst>
          </a:custGeom>
          <a:noFill xmlns:a="http://schemas.openxmlformats.org/drawingml/2006/main"/>
          <a:ln xmlns:a="http://schemas.openxmlformats.org/drawingml/2006/main" w="30480">
            <a:solidFill>
              <a:srgbClr val="101010"/>
            </a:solidFill>
            <a:prstDash val="solid"/>
          </a:ln>
        </p:spPr>
      </p:sp>
      <p:sp>
        <p:nvSpPr>
          <p:cNvPr id="18" name="Execute to update arrowhead">
            <a:extLst xmlns:a="http://schemas.openxmlformats.org/drawingml/2006/main">
              <a:ext uri="{FF2B5EF4-FFF2-40B4-BE49-F238E27FC236}">
                <a16:creationId xmlns:a16="http://schemas.microsoft.com/office/drawing/2014/main" id="{EA39798A-6BF7-4929-B0A9-8AFE3787D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91329" y="3590925"/>
            <a:ext cx="202692" cy="180975"/>
          </a:xfrm>
          <a:custGeom xmlns:a="http://schemas.openxmlformats.org/drawingml/2006/main">
            <a:pathLst>
              <a:path w="202692" h="180975">
                <a:moveTo>
                  <a:pt x="101346" y="180975"/>
                </a:moveTo>
                <a:lnTo>
                  <a:pt x="0" y="0"/>
                </a:lnTo>
                <a:lnTo>
                  <a:pt x="202692" y="0"/>
                </a:lnTo>
                <a:close/>
              </a:path>
            </a:pathLst>
          </a:custGeom>
          <a:solidFill xmlns:a="http://schemas.openxmlformats.org/drawingml/2006/main">
            <a:srgbClr val="101010"/>
          </a:solidFill>
          <a:ln xmlns:a="http://schemas.openxmlformats.org/drawingml/2006/main" w="0">
            <a:noFill/>
          </a:ln>
        </p:spPr>
      </p:sp>
      <p:sp>
        <p:nvSpPr>
          <p:cNvPr id="19" name="Requests">
            <a:extLst xmlns:a="http://schemas.openxmlformats.org/drawingml/2006/main">
              <a:ext uri="{FF2B5EF4-FFF2-40B4-BE49-F238E27FC236}">
                <a16:creationId xmlns:a16="http://schemas.microsoft.com/office/drawing/2014/main" id="{B5F5A99F-763E-49A8-BC9C-CFEC83D3E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571625"/>
            <a:ext cx="3667125" cy="2371725"/>
          </a:xfrm>
          <a:prstGeom xmlns:a="http://schemas.openxmlformats.org/drawingml/2006/main" prst="roundRect">
            <a:avLst>
              <a:gd name="adj" fmla="val 32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01010"/>
            </a:solidFill>
            <a:prstDash val="solid"/>
          </a:ln>
        </p:spPr>
      </p:sp>
      <p:sp>
        <p:nvSpPr>
          <p:cNvPr id="20" name="rect-4">
            <a:extLst xmlns:a="http://schemas.openxmlformats.org/drawingml/2006/main">
              <a:ext uri="{FF2B5EF4-FFF2-40B4-BE49-F238E27FC236}">
                <a16:creationId xmlns:a16="http://schemas.microsoft.com/office/drawing/2014/main" id="{27DDAF26-E7D1-4CA8-829A-D22A2181D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571625"/>
            <a:ext cx="3667125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22860">
            <a:solidFill>
              <a:srgbClr val="101010"/>
            </a:solidFill>
            <a:prstDash val="solid"/>
          </a:ln>
        </p:spPr>
      </p:sp>
      <p:sp>
        <p:nvSpPr>
          <p:cNvPr id="21" name="Requests">
            <a:extLst xmlns:a="http://schemas.openxmlformats.org/drawingml/2006/main">
              <a:ext uri="{FF2B5EF4-FFF2-40B4-BE49-F238E27FC236}">
                <a16:creationId xmlns:a16="http://schemas.microsoft.com/office/drawing/2014/main" id="{EFADF5F6-8645-430B-9EC0-0B244A366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85925"/>
            <a:ext cx="29813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925" b="1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925" b="1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rPr>
              <a:t>Requests</a:t>
            </a:r>
          </a:p>
        </p:txBody>
      </p:sp>
      <p:sp>
        <p:nvSpPr>
          <p:cNvPr id="22" name="Running">
            <a:extLst xmlns:a="http://schemas.openxmlformats.org/drawingml/2006/main">
              <a:ext uri="{FF2B5EF4-FFF2-40B4-BE49-F238E27FC236}">
                <a16:creationId xmlns:a16="http://schemas.microsoft.com/office/drawing/2014/main" id="{83C1181D-DAAD-4949-9AE5-87920E010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2352675"/>
            <a:ext cx="17430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rPr>
              <a:t>Running</a:t>
            </a:r>
          </a:p>
        </p:txBody>
      </p:sp>
      <p:sp>
        <p:nvSpPr>
          <p:cNvPr id="23" name="Ongoing decode">
            <a:extLst xmlns:a="http://schemas.openxmlformats.org/drawingml/2006/main">
              <a:ext uri="{FF2B5EF4-FFF2-40B4-BE49-F238E27FC236}">
                <a16:creationId xmlns:a16="http://schemas.microsoft.com/office/drawing/2014/main" id="{00CE0119-41C4-4ACA-8F10-DB56DD08F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2657475"/>
            <a:ext cx="21526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rPr>
              <a:t>Ongoing decode</a:t>
            </a:r>
          </a:p>
        </p:txBody>
      </p:sp>
      <p:sp>
        <p:nvSpPr>
          <p:cNvPr id="24" name="D editable block">
            <a:extLst xmlns:a="http://schemas.openxmlformats.org/drawingml/2006/main">
              <a:ext uri="{FF2B5EF4-FFF2-40B4-BE49-F238E27FC236}">
                <a16:creationId xmlns:a16="http://schemas.microsoft.com/office/drawing/2014/main" id="{BCEDDB3B-BD9C-4141-8397-78D383C95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2381250"/>
            <a:ext cx="7620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9F3EE"/>
          </a:solidFill>
          <a:ln xmlns:a="http://schemas.openxmlformats.org/drawingml/2006/main" w="20955">
            <a:solidFill>
              <a:srgbClr val="417D74"/>
            </a:solidFill>
            <a:prstDash val="solid"/>
          </a:ln>
        </p:spPr>
      </p:sp>
      <p:sp>
        <p:nvSpPr>
          <p:cNvPr id="25" name="D">
            <a:extLst xmlns:a="http://schemas.openxmlformats.org/drawingml/2006/main">
              <a:ext uri="{FF2B5EF4-FFF2-40B4-BE49-F238E27FC236}">
                <a16:creationId xmlns:a16="http://schemas.microsoft.com/office/drawing/2014/main" id="{78FE8652-36A5-449B-81FC-77CBF0599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390775"/>
            <a:ext cx="704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rPr>
              <a:t>D</a:t>
            </a:r>
          </a:p>
        </p:txBody>
      </p:sp>
      <p:sp>
        <p:nvSpPr>
          <p:cNvPr id="26" name="line-5">
            <a:extLst xmlns:a="http://schemas.openxmlformats.org/drawingml/2006/main">
              <a:ext uri="{FF2B5EF4-FFF2-40B4-BE49-F238E27FC236}">
                <a16:creationId xmlns:a16="http://schemas.microsoft.com/office/drawing/2014/main" id="{F95F81F0-F375-41D5-9A12-1414176E0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067050"/>
            <a:ext cx="3524250" cy="9525"/>
          </a:xfrm>
          <a:custGeom xmlns:a="http://schemas.openxmlformats.org/drawingml/2006/main">
            <a:pathLst>
              <a:path w="3524250" h="9525">
                <a:moveTo>
                  <a:pt x="0" y="0"/>
                </a:moveTo>
                <a:lnTo>
                  <a:pt x="3524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7C7C7C"/>
            </a:solidFill>
            <a:prstDash val="dash"/>
          </a:ln>
        </p:spPr>
      </p:sp>
      <p:sp>
        <p:nvSpPr>
          <p:cNvPr id="27" name="Waiting">
            <a:extLst xmlns:a="http://schemas.openxmlformats.org/drawingml/2006/main">
              <a:ext uri="{FF2B5EF4-FFF2-40B4-BE49-F238E27FC236}">
                <a16:creationId xmlns:a16="http://schemas.microsoft.com/office/drawing/2014/main" id="{A883EAB4-59A7-4080-BEF4-B4C531C92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3248025"/>
            <a:ext cx="15621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rPr>
              <a:t>Waiting</a:t>
            </a:r>
          </a:p>
        </p:txBody>
      </p:sp>
      <p:sp>
        <p:nvSpPr>
          <p:cNvPr id="28" name="New / resumed">
            <a:extLst xmlns:a="http://schemas.openxmlformats.org/drawingml/2006/main">
              <a:ext uri="{FF2B5EF4-FFF2-40B4-BE49-F238E27FC236}">
                <a16:creationId xmlns:a16="http://schemas.microsoft.com/office/drawing/2014/main" id="{D3EFE9EC-2748-4091-B57B-6CB0D8B78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35433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rPr>
              <a:t>New / resumed</a:t>
            </a:r>
          </a:p>
        </p:txBody>
      </p:sp>
      <p:sp>
        <p:nvSpPr>
          <p:cNvPr id="29" name="R1 editable block">
            <a:extLst xmlns:a="http://schemas.openxmlformats.org/drawingml/2006/main">
              <a:ext uri="{FF2B5EF4-FFF2-40B4-BE49-F238E27FC236}">
                <a16:creationId xmlns:a16="http://schemas.microsoft.com/office/drawing/2014/main" id="{4AD33ECF-6C0D-4664-986B-784A365FC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209925"/>
            <a:ext cx="781050" cy="542925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DE8D8"/>
          </a:solidFill>
          <a:ln xmlns:a="http://schemas.openxmlformats.org/drawingml/2006/main" w="20955">
            <a:solidFill>
              <a:srgbClr val="101010"/>
            </a:solidFill>
            <a:prstDash val="solid"/>
          </a:ln>
        </p:spPr>
      </p:sp>
      <p:sp>
        <p:nvSpPr>
          <p:cNvPr id="30" name="R1">
            <a:extLst xmlns:a="http://schemas.openxmlformats.org/drawingml/2006/main">
              <a:ext uri="{FF2B5EF4-FFF2-40B4-BE49-F238E27FC236}">
                <a16:creationId xmlns:a16="http://schemas.microsoft.com/office/drawing/2014/main" id="{BDF7F9E5-7305-4C38-9784-17358842E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3219450"/>
            <a:ext cx="7239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1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rPr>
              <a:t>R1</a:t>
            </a:r>
          </a:p>
        </p:txBody>
      </p:sp>
      <p:sp>
        <p:nvSpPr>
          <p:cNvPr id="31" name="R2 editable block">
            <a:extLst xmlns:a="http://schemas.openxmlformats.org/drawingml/2006/main">
              <a:ext uri="{FF2B5EF4-FFF2-40B4-BE49-F238E27FC236}">
                <a16:creationId xmlns:a16="http://schemas.microsoft.com/office/drawing/2014/main" id="{235A2001-7C0F-4F23-BB00-783CE7BBD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209925"/>
            <a:ext cx="781050" cy="542925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DE8D8"/>
          </a:solidFill>
          <a:ln xmlns:a="http://schemas.openxmlformats.org/drawingml/2006/main" w="20955">
            <a:solidFill>
              <a:srgbClr val="101010"/>
            </a:solidFill>
            <a:prstDash val="solid"/>
          </a:ln>
        </p:spPr>
      </p:sp>
      <p:sp>
        <p:nvSpPr>
          <p:cNvPr id="32" name="R2">
            <a:extLst xmlns:a="http://schemas.openxmlformats.org/drawingml/2006/main">
              <a:ext uri="{FF2B5EF4-FFF2-40B4-BE49-F238E27FC236}">
                <a16:creationId xmlns:a16="http://schemas.microsoft.com/office/drawing/2014/main" id="{34FE1447-3DA4-477F-BAB1-970AE48BA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3219450"/>
            <a:ext cx="7239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1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rPr>
              <a:t>R2</a:t>
            </a:r>
          </a:p>
        </p:txBody>
      </p:sp>
      <p:sp>
        <p:nvSpPr>
          <p:cNvPr id="33" name="Temporal scheduling">
            <a:extLst xmlns:a="http://schemas.openxmlformats.org/drawingml/2006/main">
              <a:ext uri="{FF2B5EF4-FFF2-40B4-BE49-F238E27FC236}">
                <a16:creationId xmlns:a16="http://schemas.microsoft.com/office/drawing/2014/main" id="{EE5D93B3-D87C-48BE-BFE8-1DFE425E8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971550"/>
            <a:ext cx="5143500" cy="3943350"/>
          </a:xfrm>
          <a:prstGeom xmlns:a="http://schemas.openxmlformats.org/drawingml/2006/main" prst="roundRect">
            <a:avLst>
              <a:gd name="adj" fmla="val 19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01010"/>
            </a:solidFill>
            <a:prstDash val="solid"/>
          </a:ln>
        </p:spPr>
      </p:sp>
      <p:sp>
        <p:nvSpPr>
          <p:cNvPr id="34" name="rect-6">
            <a:extLst xmlns:a="http://schemas.openxmlformats.org/drawingml/2006/main">
              <a:ext uri="{FF2B5EF4-FFF2-40B4-BE49-F238E27FC236}">
                <a16:creationId xmlns:a16="http://schemas.microsoft.com/office/drawing/2014/main" id="{F6286051-2A72-47D8-A1F0-0BD1192FD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971550"/>
            <a:ext cx="51435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22860">
            <a:solidFill>
              <a:srgbClr val="101010"/>
            </a:solidFill>
            <a:prstDash val="solid"/>
          </a:ln>
        </p:spPr>
      </p:sp>
      <p:sp>
        <p:nvSpPr>
          <p:cNvPr id="35" name="Step 1">
            <a:extLst xmlns:a="http://schemas.openxmlformats.org/drawingml/2006/main">
              <a:ext uri="{FF2B5EF4-FFF2-40B4-BE49-F238E27FC236}">
                <a16:creationId xmlns:a16="http://schemas.microsoft.com/office/drawing/2014/main" id="{96E2DA15-7BBC-4EC0-9D32-D9F7286BB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038225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1">
            <a:extLst xmlns:a="http://schemas.openxmlformats.org/drawingml/2006/main">
              <a:ext uri="{FF2B5EF4-FFF2-40B4-BE49-F238E27FC236}">
                <a16:creationId xmlns:a16="http://schemas.microsoft.com/office/drawing/2014/main" id="{FEBE4676-607E-47DA-B2C0-BF0C0E272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028700"/>
            <a:ext cx="533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3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3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37" name="Temporal scheduling">
            <a:extLst xmlns:a="http://schemas.openxmlformats.org/drawingml/2006/main">
              <a:ext uri="{FF2B5EF4-FFF2-40B4-BE49-F238E27FC236}">
                <a16:creationId xmlns:a16="http://schemas.microsoft.com/office/drawing/2014/main" id="{9445EDE4-E8FA-4C37-A94C-240F38B85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1038225"/>
            <a:ext cx="4000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225" b="1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 b="1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rPr>
              <a:t>Temporal scheduling</a:t>
            </a:r>
          </a:p>
        </p:txBody>
      </p:sp>
      <p:sp>
        <p:nvSpPr>
          <p:cNvPr id="38" name="Select requests for this step">
            <a:extLst xmlns:a="http://schemas.openxmlformats.org/drawingml/2006/main">
              <a:ext uri="{FF2B5EF4-FFF2-40B4-BE49-F238E27FC236}">
                <a16:creationId xmlns:a16="http://schemas.microsoft.com/office/drawing/2014/main" id="{A28CDAA6-90BB-45F6-8EEE-220DC8E99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657350"/>
            <a:ext cx="43910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0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0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rPr>
              <a:t>Select requests for this step</a:t>
            </a:r>
          </a:p>
        </p:txBody>
      </p:sp>
      <p:sp>
        <p:nvSpPr>
          <p:cNvPr id="39" name="Running first row">
            <a:extLst xmlns:a="http://schemas.openxmlformats.org/drawingml/2006/main">
              <a:ext uri="{FF2B5EF4-FFF2-40B4-BE49-F238E27FC236}">
                <a16:creationId xmlns:a16="http://schemas.microsoft.com/office/drawing/2014/main" id="{224F67EC-7B91-44CC-A2B8-AE578D3E2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095500"/>
            <a:ext cx="4705350" cy="523875"/>
          </a:xfrm>
          <a:prstGeom xmlns:a="http://schemas.openxmlformats.org/drawingml/2006/main" prst="roundRect">
            <a:avLst>
              <a:gd name="adj" fmla="val 12727"/>
            </a:avLst>
          </a:prstGeom>
          <a:solidFill xmlns:a="http://schemas.openxmlformats.org/drawingml/2006/main">
            <a:srgbClr val="F7F9F9"/>
          </a:solidFill>
          <a:ln xmlns:a="http://schemas.openxmlformats.org/drawingml/2006/main" w="19050">
            <a:solidFill>
              <a:srgbClr val="777777"/>
            </a:solidFill>
            <a:prstDash val="solid"/>
          </a:ln>
        </p:spPr>
      </p:sp>
      <p:sp>
        <p:nvSpPr>
          <p:cNvPr id="40" name="Running first">
            <a:extLst xmlns:a="http://schemas.openxmlformats.org/drawingml/2006/main">
              <a:ext uri="{FF2B5EF4-FFF2-40B4-BE49-F238E27FC236}">
                <a16:creationId xmlns:a16="http://schemas.microsoft.com/office/drawing/2014/main" id="{CFE293CD-8ED5-4C2D-A7AE-198CCC820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181225"/>
            <a:ext cx="16954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1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rPr>
              <a:t>Running first</a:t>
            </a:r>
          </a:p>
        </p:txBody>
      </p:sp>
      <p:sp>
        <p:nvSpPr>
          <p:cNvPr id="41" name="D editable block">
            <a:extLst xmlns:a="http://schemas.openxmlformats.org/drawingml/2006/main">
              <a:ext uri="{FF2B5EF4-FFF2-40B4-BE49-F238E27FC236}">
                <a16:creationId xmlns:a16="http://schemas.microsoft.com/office/drawing/2014/main" id="{CAE630F0-1FFC-4ABC-B6CB-C7CD81BAD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162175"/>
            <a:ext cx="962025" cy="400050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D9F3EE"/>
          </a:solidFill>
          <a:ln xmlns:a="http://schemas.openxmlformats.org/drawingml/2006/main" w="20955">
            <a:solidFill>
              <a:srgbClr val="417D74"/>
            </a:solidFill>
            <a:prstDash val="solid"/>
          </a:ln>
        </p:spPr>
      </p:sp>
      <p:sp>
        <p:nvSpPr>
          <p:cNvPr id="42" name="D">
            <a:extLst xmlns:a="http://schemas.openxmlformats.org/drawingml/2006/main">
              <a:ext uri="{FF2B5EF4-FFF2-40B4-BE49-F238E27FC236}">
                <a16:creationId xmlns:a16="http://schemas.microsoft.com/office/drawing/2014/main" id="{4F385A3E-7ACD-4462-A4F4-7FC4B742C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71700"/>
            <a:ext cx="90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1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rPr>
              <a:t>D</a:t>
            </a:r>
          </a:p>
        </p:txBody>
      </p:sp>
      <p:sp>
        <p:nvSpPr>
          <p:cNvPr id="43" name="Waiting FCFS row">
            <a:extLst xmlns:a="http://schemas.openxmlformats.org/drawingml/2006/main">
              <a:ext uri="{FF2B5EF4-FFF2-40B4-BE49-F238E27FC236}">
                <a16:creationId xmlns:a16="http://schemas.microsoft.com/office/drawing/2014/main" id="{FC53DF67-641F-4400-A94B-5B5585250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771775"/>
            <a:ext cx="4705350" cy="561975"/>
          </a:xfrm>
          <a:prstGeom xmlns:a="http://schemas.openxmlformats.org/drawingml/2006/main" prst="roundRect">
            <a:avLst>
              <a:gd name="adj" fmla="val 11864"/>
            </a:avLst>
          </a:prstGeom>
          <a:solidFill xmlns:a="http://schemas.openxmlformats.org/drawingml/2006/main">
            <a:srgbClr val="FFF5EE"/>
          </a:solidFill>
          <a:ln xmlns:a="http://schemas.openxmlformats.org/drawingml/2006/main" w="19050">
            <a:solidFill>
              <a:srgbClr val="847871"/>
            </a:solidFill>
            <a:prstDash val="solid"/>
          </a:ln>
        </p:spPr>
      </p:sp>
      <p:sp>
        <p:nvSpPr>
          <p:cNvPr id="44" name="Waiting: FCFS">
            <a:extLst xmlns:a="http://schemas.openxmlformats.org/drawingml/2006/main">
              <a:ext uri="{FF2B5EF4-FFF2-40B4-BE49-F238E27FC236}">
                <a16:creationId xmlns:a16="http://schemas.microsoft.com/office/drawing/2014/main" id="{48C8EEE4-1153-4942-BFC8-0328333C6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886075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1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rPr>
              <a:t>Waiting: FCFS</a:t>
            </a:r>
          </a:p>
        </p:txBody>
      </p:sp>
      <p:sp>
        <p:nvSpPr>
          <p:cNvPr id="45" name="R1 editable block">
            <a:extLst xmlns:a="http://schemas.openxmlformats.org/drawingml/2006/main">
              <a:ext uri="{FF2B5EF4-FFF2-40B4-BE49-F238E27FC236}">
                <a16:creationId xmlns:a16="http://schemas.microsoft.com/office/drawing/2014/main" id="{2E3DDAC3-A70C-4A0F-8CDC-FC88FCB97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2838450"/>
            <a:ext cx="1000125" cy="428625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DE8D8"/>
          </a:solidFill>
          <a:ln xmlns:a="http://schemas.openxmlformats.org/drawingml/2006/main" w="20955">
            <a:solidFill>
              <a:srgbClr val="101010"/>
            </a:solidFill>
            <a:prstDash val="solid"/>
          </a:ln>
        </p:spPr>
      </p:sp>
      <p:sp>
        <p:nvSpPr>
          <p:cNvPr id="46" name="R1">
            <a:extLst xmlns:a="http://schemas.openxmlformats.org/drawingml/2006/main">
              <a:ext uri="{FF2B5EF4-FFF2-40B4-BE49-F238E27FC236}">
                <a16:creationId xmlns:a16="http://schemas.microsoft.com/office/drawing/2014/main" id="{F00709EE-F750-44FF-8F2C-781AC10FB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847975"/>
            <a:ext cx="9429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1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rPr>
              <a:t>R1</a:t>
            </a:r>
          </a:p>
        </p:txBody>
      </p:sp>
      <p:sp>
        <p:nvSpPr>
          <p:cNvPr id="47" name=" stem">
            <a:extLst xmlns:a="http://schemas.openxmlformats.org/drawingml/2006/main">
              <a:ext uri="{FF2B5EF4-FFF2-40B4-BE49-F238E27FC236}">
                <a16:creationId xmlns:a16="http://schemas.microsoft.com/office/drawing/2014/main" id="{78F7466E-BAD4-4EE1-A8B1-4D8A3E33C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067050"/>
            <a:ext cx="304800" cy="9525"/>
          </a:xfrm>
          <a:custGeom xmlns:a="http://schemas.openxmlformats.org/drawingml/2006/main">
            <a:pathLst>
              <a:path w="304800" h="9525">
                <a:moveTo>
                  <a:pt x="0" y="0"/>
                </a:moveTo>
                <a:lnTo>
                  <a:pt x="304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670">
            <a:solidFill>
              <a:srgbClr val="101010"/>
            </a:solidFill>
            <a:prstDash val="solid"/>
          </a:ln>
        </p:spPr>
      </p:sp>
      <p:sp>
        <p:nvSpPr>
          <p:cNvPr id="48" name=" arrowhead">
            <a:extLst xmlns:a="http://schemas.openxmlformats.org/drawingml/2006/main">
              <a:ext uri="{FF2B5EF4-FFF2-40B4-BE49-F238E27FC236}">
                <a16:creationId xmlns:a16="http://schemas.microsoft.com/office/drawing/2014/main" id="{4671B642-A642-4A66-8AC9-50BA2F35E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981706"/>
            <a:ext cx="152400" cy="170688"/>
          </a:xfrm>
          <a:custGeom xmlns:a="http://schemas.openxmlformats.org/drawingml/2006/main">
            <a:pathLst>
              <a:path w="152400" h="170688">
                <a:moveTo>
                  <a:pt x="152400" y="85344"/>
                </a:moveTo>
                <a:lnTo>
                  <a:pt x="0" y="17068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01010"/>
          </a:solidFill>
          <a:ln xmlns:a="http://schemas.openxmlformats.org/drawingml/2006/main" w="0">
            <a:noFill/>
          </a:ln>
        </p:spPr>
      </p:sp>
      <p:sp>
        <p:nvSpPr>
          <p:cNvPr id="49" name="R2 editable block">
            <a:extLst xmlns:a="http://schemas.openxmlformats.org/drawingml/2006/main">
              <a:ext uri="{FF2B5EF4-FFF2-40B4-BE49-F238E27FC236}">
                <a16:creationId xmlns:a16="http://schemas.microsoft.com/office/drawing/2014/main" id="{8036A489-0803-4CC6-AA98-48BE6784F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838450"/>
            <a:ext cx="1019175" cy="428625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DE8D8"/>
          </a:solidFill>
          <a:ln xmlns:a="http://schemas.openxmlformats.org/drawingml/2006/main" w="20955">
            <a:solidFill>
              <a:srgbClr val="101010"/>
            </a:solidFill>
            <a:prstDash val="solid"/>
          </a:ln>
        </p:spPr>
      </p:sp>
      <p:sp>
        <p:nvSpPr>
          <p:cNvPr id="50" name="R2">
            <a:extLst xmlns:a="http://schemas.openxmlformats.org/drawingml/2006/main">
              <a:ext uri="{FF2B5EF4-FFF2-40B4-BE49-F238E27FC236}">
                <a16:creationId xmlns:a16="http://schemas.microsoft.com/office/drawing/2014/main" id="{C38B2B51-174A-4639-85D4-C66C3C4F0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2847975"/>
            <a:ext cx="9620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1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rPr>
              <a:t>R2</a:t>
            </a:r>
          </a:p>
        </p:txBody>
      </p:sp>
      <p:sp>
        <p:nvSpPr>
          <p:cNvPr id="51" name=" stem">
            <a:extLst xmlns:a="http://schemas.openxmlformats.org/drawingml/2006/main">
              <a:ext uri="{FF2B5EF4-FFF2-40B4-BE49-F238E27FC236}">
                <a16:creationId xmlns:a16="http://schemas.microsoft.com/office/drawing/2014/main" id="{0D2CF126-818A-4F15-9618-13083396E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352800"/>
            <a:ext cx="9525" cy="323850"/>
          </a:xfrm>
          <a:custGeom xmlns:a="http://schemas.openxmlformats.org/drawingml/2006/main">
            <a:pathLst>
              <a:path w="9525" h="323850">
                <a:moveTo>
                  <a:pt x="0" y="0"/>
                </a:moveTo>
                <a:lnTo>
                  <a:pt x="0" y="323850"/>
                </a:lnTo>
              </a:path>
            </a:pathLst>
          </a:custGeom>
          <a:noFill xmlns:a="http://schemas.openxmlformats.org/drawingml/2006/main"/>
          <a:ln xmlns:a="http://schemas.openxmlformats.org/drawingml/2006/main" w="29528">
            <a:solidFill>
              <a:srgbClr val="101010"/>
            </a:solidFill>
            <a:prstDash val="solid"/>
          </a:ln>
        </p:spPr>
      </p:sp>
      <p:sp>
        <p:nvSpPr>
          <p:cNvPr id="52" name=" arrowhead">
            <a:extLst xmlns:a="http://schemas.openxmlformats.org/drawingml/2006/main">
              <a:ext uri="{FF2B5EF4-FFF2-40B4-BE49-F238E27FC236}">
                <a16:creationId xmlns:a16="http://schemas.microsoft.com/office/drawing/2014/main" id="{D93160AC-46DE-48D0-BE8D-D70BF1CF9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4863" y="3676650"/>
            <a:ext cx="192024" cy="171450"/>
          </a:xfrm>
          <a:custGeom xmlns:a="http://schemas.openxmlformats.org/drawingml/2006/main">
            <a:pathLst>
              <a:path w="192024" h="171450">
                <a:moveTo>
                  <a:pt x="96012" y="171450"/>
                </a:moveTo>
                <a:lnTo>
                  <a:pt x="0" y="0"/>
                </a:lnTo>
                <a:lnTo>
                  <a:pt x="192024" y="0"/>
                </a:lnTo>
                <a:close/>
              </a:path>
            </a:pathLst>
          </a:custGeom>
          <a:solidFill xmlns:a="http://schemas.openxmlformats.org/drawingml/2006/main">
            <a:srgbClr val="101010"/>
          </a:solidFill>
          <a:ln xmlns:a="http://schemas.openxmlformats.org/drawingml/2006/main" w="0">
            <a:noFill/>
          </a:ln>
        </p:spPr>
      </p:sp>
      <p:sp>
        <p:nvSpPr>
          <p:cNvPr id="53" name="Continue / admit">
            <a:extLst xmlns:a="http://schemas.openxmlformats.org/drawingml/2006/main">
              <a:ext uri="{FF2B5EF4-FFF2-40B4-BE49-F238E27FC236}">
                <a16:creationId xmlns:a16="http://schemas.microsoft.com/office/drawing/2014/main" id="{9CE39FFA-8610-438D-B628-B73FA8B68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3381375"/>
            <a:ext cx="21431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0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rPr>
              <a:t>Continue / admit</a:t>
            </a:r>
          </a:p>
        </p:txBody>
      </p:sp>
      <p:sp>
        <p:nvSpPr>
          <p:cNvPr id="54" name="Selected this step row">
            <a:extLst xmlns:a="http://schemas.openxmlformats.org/drawingml/2006/main">
              <a:ext uri="{FF2B5EF4-FFF2-40B4-BE49-F238E27FC236}">
                <a16:creationId xmlns:a16="http://schemas.microsoft.com/office/drawing/2014/main" id="{5DF4E6BA-0AB6-4BFC-A190-5EADB4A7F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857625"/>
            <a:ext cx="4705350" cy="676275"/>
          </a:xfrm>
          <a:prstGeom xmlns:a="http://schemas.openxmlformats.org/drawingml/2006/main" prst="roundRect">
            <a:avLst>
              <a:gd name="adj" fmla="val 9859"/>
            </a:avLst>
          </a:prstGeom>
          <a:solidFill xmlns:a="http://schemas.openxmlformats.org/drawingml/2006/main">
            <a:srgbClr val="F7F9F9"/>
          </a:solidFill>
          <a:ln xmlns:a="http://schemas.openxmlformats.org/drawingml/2006/main" w="22860">
            <a:solidFill>
              <a:srgbClr val="101010"/>
            </a:solidFill>
            <a:prstDash val="solid"/>
          </a:ln>
        </p:spPr>
      </p:sp>
      <p:sp>
        <p:nvSpPr>
          <p:cNvPr id="55" name="Selected this step">
            <a:extLst xmlns:a="http://schemas.openxmlformats.org/drawingml/2006/main">
              <a:ext uri="{FF2B5EF4-FFF2-40B4-BE49-F238E27FC236}">
                <a16:creationId xmlns:a16="http://schemas.microsoft.com/office/drawing/2014/main" id="{482BED1A-1879-4E06-A7F1-A26DF0E75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4019550"/>
            <a:ext cx="17430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rPr>
              <a:t>Selected this step</a:t>
            </a:r>
          </a:p>
        </p:txBody>
      </p:sp>
      <p:sp>
        <p:nvSpPr>
          <p:cNvPr id="56" name="D editable block">
            <a:extLst xmlns:a="http://schemas.openxmlformats.org/drawingml/2006/main">
              <a:ext uri="{FF2B5EF4-FFF2-40B4-BE49-F238E27FC236}">
                <a16:creationId xmlns:a16="http://schemas.microsoft.com/office/drawing/2014/main" id="{4B7C8ED5-F2F4-434E-8640-61F5C03B9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3952875"/>
            <a:ext cx="838200" cy="48577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9F3EE"/>
          </a:solidFill>
          <a:ln xmlns:a="http://schemas.openxmlformats.org/drawingml/2006/main" w="20955">
            <a:solidFill>
              <a:srgbClr val="101010"/>
            </a:solidFill>
            <a:prstDash val="solid"/>
          </a:ln>
        </p:spPr>
      </p:sp>
      <p:sp>
        <p:nvSpPr>
          <p:cNvPr id="57" name="D">
            <a:extLst xmlns:a="http://schemas.openxmlformats.org/drawingml/2006/main">
              <a:ext uri="{FF2B5EF4-FFF2-40B4-BE49-F238E27FC236}">
                <a16:creationId xmlns:a16="http://schemas.microsoft.com/office/drawing/2014/main" id="{01D54011-8D98-4E45-8724-15B464C36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962400"/>
            <a:ext cx="7810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1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rPr>
              <a:t>D</a:t>
            </a:r>
          </a:p>
        </p:txBody>
      </p:sp>
      <p:sp>
        <p:nvSpPr>
          <p:cNvPr id="58" name="R1 editable block">
            <a:extLst xmlns:a="http://schemas.openxmlformats.org/drawingml/2006/main">
              <a:ext uri="{FF2B5EF4-FFF2-40B4-BE49-F238E27FC236}">
                <a16:creationId xmlns:a16="http://schemas.microsoft.com/office/drawing/2014/main" id="{05E473B9-7731-4F00-BE36-A131C4C33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952875"/>
            <a:ext cx="847725" cy="48577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DE8D8"/>
          </a:solidFill>
          <a:ln xmlns:a="http://schemas.openxmlformats.org/drawingml/2006/main" w="20955">
            <a:solidFill>
              <a:srgbClr val="101010"/>
            </a:solidFill>
            <a:prstDash val="solid"/>
          </a:ln>
        </p:spPr>
      </p:sp>
      <p:sp>
        <p:nvSpPr>
          <p:cNvPr id="59" name="R1">
            <a:extLst xmlns:a="http://schemas.openxmlformats.org/drawingml/2006/main">
              <a:ext uri="{FF2B5EF4-FFF2-40B4-BE49-F238E27FC236}">
                <a16:creationId xmlns:a16="http://schemas.microsoft.com/office/drawing/2014/main" id="{D3D4E27E-4E81-49E4-A2CC-933E2ACAB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962400"/>
            <a:ext cx="7905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1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rPr>
              <a:t>R1</a:t>
            </a:r>
          </a:p>
        </p:txBody>
      </p:sp>
      <p:sp>
        <p:nvSpPr>
          <p:cNvPr id="60" name="R2 editable block">
            <a:extLst xmlns:a="http://schemas.openxmlformats.org/drawingml/2006/main">
              <a:ext uri="{FF2B5EF4-FFF2-40B4-BE49-F238E27FC236}">
                <a16:creationId xmlns:a16="http://schemas.microsoft.com/office/drawing/2014/main" id="{943E1702-217F-4693-B6FD-0A0215AAC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3952875"/>
            <a:ext cx="828675" cy="48577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DE8D8"/>
          </a:solidFill>
          <a:ln xmlns:a="http://schemas.openxmlformats.org/drawingml/2006/main" w="20955">
            <a:solidFill>
              <a:srgbClr val="101010"/>
            </a:solidFill>
            <a:prstDash val="solid"/>
          </a:ln>
        </p:spPr>
      </p:sp>
      <p:sp>
        <p:nvSpPr>
          <p:cNvPr id="61" name="R2">
            <a:extLst xmlns:a="http://schemas.openxmlformats.org/drawingml/2006/main">
              <a:ext uri="{FF2B5EF4-FFF2-40B4-BE49-F238E27FC236}">
                <a16:creationId xmlns:a16="http://schemas.microsoft.com/office/drawing/2014/main" id="{C64946A9-A4A0-4954-B857-93B6D6D3B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962400"/>
            <a:ext cx="7715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1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rPr>
              <a:t>R2</a:t>
            </a:r>
          </a:p>
        </p:txBody>
      </p:sp>
      <p:sp>
        <p:nvSpPr>
          <p:cNvPr id="62" name="Token / KV limits; preemption">
            <a:extLst xmlns:a="http://schemas.openxmlformats.org/drawingml/2006/main">
              <a:ext uri="{FF2B5EF4-FFF2-40B4-BE49-F238E27FC236}">
                <a16:creationId xmlns:a16="http://schemas.microsoft.com/office/drawing/2014/main" id="{31D77CFD-F9CE-4928-8C77-192B65E66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552950"/>
            <a:ext cx="42576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0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rPr>
              <a:t>Token / KV limits; preemption</a:t>
            </a:r>
          </a:p>
        </p:txBody>
      </p:sp>
      <p:sp>
        <p:nvSpPr>
          <p:cNvPr id="63" name="Spatial scheduling">
            <a:extLst xmlns:a="http://schemas.openxmlformats.org/drawingml/2006/main">
              <a:ext uri="{FF2B5EF4-FFF2-40B4-BE49-F238E27FC236}">
                <a16:creationId xmlns:a16="http://schemas.microsoft.com/office/drawing/2014/main" id="{D85E8FA6-D8FA-4859-8C85-E49322011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971550"/>
            <a:ext cx="5114925" cy="3943350"/>
          </a:xfrm>
          <a:prstGeom xmlns:a="http://schemas.openxmlformats.org/drawingml/2006/main" prst="roundRect">
            <a:avLst>
              <a:gd name="adj" fmla="val 19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01010"/>
            </a:solidFill>
            <a:prstDash val="solid"/>
          </a:ln>
        </p:spPr>
      </p:sp>
      <p:sp>
        <p:nvSpPr>
          <p:cNvPr id="64" name="rect-7">
            <a:extLst xmlns:a="http://schemas.openxmlformats.org/drawingml/2006/main">
              <a:ext uri="{FF2B5EF4-FFF2-40B4-BE49-F238E27FC236}">
                <a16:creationId xmlns:a16="http://schemas.microsoft.com/office/drawing/2014/main" id="{A8939860-9CCB-45A3-A36B-FC8E29FC0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971550"/>
            <a:ext cx="5114925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5EE"/>
          </a:solidFill>
          <a:ln xmlns:a="http://schemas.openxmlformats.org/drawingml/2006/main" w="22860">
            <a:solidFill>
              <a:srgbClr val="101010"/>
            </a:solidFill>
            <a:prstDash val="solid"/>
          </a:ln>
        </p:spPr>
      </p:sp>
      <p:sp>
        <p:nvSpPr>
          <p:cNvPr id="65" name="Step 2">
            <a:extLst xmlns:a="http://schemas.openxmlformats.org/drawingml/2006/main">
              <a:ext uri="{FF2B5EF4-FFF2-40B4-BE49-F238E27FC236}">
                <a16:creationId xmlns:a16="http://schemas.microsoft.com/office/drawing/2014/main" id="{1D6B2840-1E05-4CA3-87A1-D794DD43E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1325" y="1038225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2">
            <a:extLst xmlns:a="http://schemas.openxmlformats.org/drawingml/2006/main">
              <a:ext uri="{FF2B5EF4-FFF2-40B4-BE49-F238E27FC236}">
                <a16:creationId xmlns:a16="http://schemas.microsoft.com/office/drawing/2014/main" id="{E131ADD2-605E-4358-8754-65991C333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1325" y="1028700"/>
            <a:ext cx="533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3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3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67" name="Spatial scheduling">
            <a:extLst xmlns:a="http://schemas.openxmlformats.org/drawingml/2006/main">
              <a:ext uri="{FF2B5EF4-FFF2-40B4-BE49-F238E27FC236}">
                <a16:creationId xmlns:a16="http://schemas.microsoft.com/office/drawing/2014/main" id="{06B6907F-14E9-4A7C-8F29-ED430C8E4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3350" y="1057275"/>
            <a:ext cx="3762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225" b="1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 b="1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rPr>
              <a:t>Spatial scheduling</a:t>
            </a:r>
          </a:p>
        </p:txBody>
      </p:sp>
      <p:sp>
        <p:nvSpPr>
          <p:cNvPr id="68" name="rect-8">
            <a:extLst xmlns:a="http://schemas.openxmlformats.org/drawingml/2006/main">
              <a:ext uri="{FF2B5EF4-FFF2-40B4-BE49-F238E27FC236}">
                <a16:creationId xmlns:a16="http://schemas.microsoft.com/office/drawing/2014/main" id="{524FCF77-A68E-4841-B7D6-D5E6E6CCB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1828800"/>
            <a:ext cx="14097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9F3EE"/>
          </a:solidFill>
          <a:ln xmlns:a="http://schemas.openxmlformats.org/drawingml/2006/main" w="23813">
            <a:solidFill>
              <a:srgbClr val="101010"/>
            </a:solidFill>
            <a:prstDash val="solid"/>
          </a:ln>
        </p:spPr>
      </p:sp>
      <p:sp>
        <p:nvSpPr>
          <p:cNvPr id="69" name="rect-9">
            <a:extLst xmlns:a="http://schemas.openxmlformats.org/drawingml/2006/main">
              <a:ext uri="{FF2B5EF4-FFF2-40B4-BE49-F238E27FC236}">
                <a16:creationId xmlns:a16="http://schemas.microsoft.com/office/drawing/2014/main" id="{D9B707DD-0DC1-424E-A69D-C3FA6F362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9625" y="1828800"/>
            <a:ext cx="1438275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5EE"/>
          </a:solidFill>
          <a:ln xmlns:a="http://schemas.openxmlformats.org/drawingml/2006/main" w="23813">
            <a:solidFill>
              <a:srgbClr val="101010"/>
            </a:solidFill>
            <a:prstDash val="solid"/>
          </a:ln>
        </p:spPr>
      </p:sp>
      <p:sp>
        <p:nvSpPr>
          <p:cNvPr id="70" name="rect-10">
            <a:extLst xmlns:a="http://schemas.openxmlformats.org/drawingml/2006/main">
              <a:ext uri="{FF2B5EF4-FFF2-40B4-BE49-F238E27FC236}">
                <a16:creationId xmlns:a16="http://schemas.microsoft.com/office/drawing/2014/main" id="{6EF73129-0116-488F-A8F1-745A70289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400" y="1828800"/>
            <a:ext cx="1438275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5EE"/>
          </a:solidFill>
          <a:ln xmlns:a="http://schemas.openxmlformats.org/drawingml/2006/main" w="23813">
            <a:solidFill>
              <a:srgbClr val="101010"/>
            </a:solidFill>
            <a:prstDash val="solid"/>
          </a:ln>
        </p:spPr>
      </p:sp>
      <p:sp>
        <p:nvSpPr>
          <p:cNvPr id="71" name="D">
            <a:extLst xmlns:a="http://schemas.openxmlformats.org/drawingml/2006/main">
              <a:ext uri="{FF2B5EF4-FFF2-40B4-BE49-F238E27FC236}">
                <a16:creationId xmlns:a16="http://schemas.microsoft.com/office/drawing/2014/main" id="{DF58181B-2763-4BA3-A4FE-6DA4D612D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1943100"/>
            <a:ext cx="1066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1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rPr>
              <a:t>D</a:t>
            </a:r>
          </a:p>
        </p:txBody>
      </p:sp>
      <p:sp>
        <p:nvSpPr>
          <p:cNvPr id="72" name="decode token">
            <a:extLst xmlns:a="http://schemas.openxmlformats.org/drawingml/2006/main">
              <a:ext uri="{FF2B5EF4-FFF2-40B4-BE49-F238E27FC236}">
                <a16:creationId xmlns:a16="http://schemas.microsoft.com/office/drawing/2014/main" id="{1FA79EA8-7223-4B46-9ACD-BA8514B77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2314575"/>
            <a:ext cx="1333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rPr>
              <a:t>decode token</a:t>
            </a:r>
          </a:p>
        </p:txBody>
      </p:sp>
      <p:sp>
        <p:nvSpPr>
          <p:cNvPr id="73" name="R1">
            <a:extLst xmlns:a="http://schemas.openxmlformats.org/drawingml/2006/main">
              <a:ext uri="{FF2B5EF4-FFF2-40B4-BE49-F238E27FC236}">
                <a16:creationId xmlns:a16="http://schemas.microsoft.com/office/drawing/2014/main" id="{89F99D97-49F7-42A1-A5EF-CC6F78ACA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92025" y="1943100"/>
            <a:ext cx="11334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1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rPr>
              <a:t>R1</a:t>
            </a:r>
          </a:p>
        </p:txBody>
      </p:sp>
      <p:sp>
        <p:nvSpPr>
          <p:cNvPr id="74" name="prefill chunk">
            <a:extLst xmlns:a="http://schemas.openxmlformats.org/drawingml/2006/main">
              <a:ext uri="{FF2B5EF4-FFF2-40B4-BE49-F238E27FC236}">
                <a16:creationId xmlns:a16="http://schemas.microsoft.com/office/drawing/2014/main" id="{F7064F79-6BFC-4B68-A454-FEB1474E7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77725" y="2314575"/>
            <a:ext cx="13620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rPr>
              <a:t>prefill chunk</a:t>
            </a:r>
          </a:p>
        </p:txBody>
      </p:sp>
      <p:sp>
        <p:nvSpPr>
          <p:cNvPr id="75" name="R2">
            <a:extLst xmlns:a="http://schemas.openxmlformats.org/drawingml/2006/main">
              <a:ext uri="{FF2B5EF4-FFF2-40B4-BE49-F238E27FC236}">
                <a16:creationId xmlns:a16="http://schemas.microsoft.com/office/drawing/2014/main" id="{54EDB1EC-60C8-4E1C-A6FD-CAE4D3474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0800" y="1943100"/>
            <a:ext cx="11334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1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rPr>
              <a:t>R2</a:t>
            </a:r>
          </a:p>
        </p:txBody>
      </p:sp>
      <p:sp>
        <p:nvSpPr>
          <p:cNvPr id="76" name="prefill chunk">
            <a:extLst xmlns:a="http://schemas.openxmlformats.org/drawingml/2006/main">
              <a:ext uri="{FF2B5EF4-FFF2-40B4-BE49-F238E27FC236}">
                <a16:creationId xmlns:a16="http://schemas.microsoft.com/office/drawing/2014/main" id="{41E5EB50-BB30-40E8-9B09-112525F23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2314575"/>
            <a:ext cx="13620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rPr>
              <a:t>prefill chunk</a:t>
            </a:r>
          </a:p>
        </p:txBody>
      </p:sp>
      <p:sp>
        <p:nvSpPr>
          <p:cNvPr id="77" name=" stem">
            <a:extLst xmlns:a="http://schemas.openxmlformats.org/drawingml/2006/main">
              <a:ext uri="{FF2B5EF4-FFF2-40B4-BE49-F238E27FC236}">
                <a16:creationId xmlns:a16="http://schemas.microsoft.com/office/drawing/2014/main" id="{3BFA889A-62B8-4E2E-BA50-A49FAB6C4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87325" y="2800350"/>
            <a:ext cx="9525" cy="314325"/>
          </a:xfrm>
          <a:custGeom xmlns:a="http://schemas.openxmlformats.org/drawingml/2006/main">
            <a:pathLst>
              <a:path w="9525" h="314325">
                <a:moveTo>
                  <a:pt x="0" y="0"/>
                </a:moveTo>
                <a:lnTo>
                  <a:pt x="0" y="31432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01010"/>
            </a:solidFill>
            <a:prstDash val="solid"/>
          </a:ln>
        </p:spPr>
      </p:sp>
      <p:sp>
        <p:nvSpPr>
          <p:cNvPr id="78" name=" arrowhead">
            <a:extLst xmlns:a="http://schemas.openxmlformats.org/drawingml/2006/main">
              <a:ext uri="{FF2B5EF4-FFF2-40B4-BE49-F238E27FC236}">
                <a16:creationId xmlns:a16="http://schemas.microsoft.com/office/drawing/2014/main" id="{7F93BF86-EBC7-4492-A209-8B0928305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91313" y="3114675"/>
            <a:ext cx="192024" cy="171450"/>
          </a:xfrm>
          <a:custGeom xmlns:a="http://schemas.openxmlformats.org/drawingml/2006/main">
            <a:pathLst>
              <a:path w="192024" h="171450">
                <a:moveTo>
                  <a:pt x="96012" y="171450"/>
                </a:moveTo>
                <a:lnTo>
                  <a:pt x="0" y="0"/>
                </a:lnTo>
                <a:lnTo>
                  <a:pt x="192024" y="0"/>
                </a:lnTo>
                <a:close/>
              </a:path>
            </a:pathLst>
          </a:custGeom>
          <a:solidFill xmlns:a="http://schemas.openxmlformats.org/drawingml/2006/main">
            <a:srgbClr val="101010"/>
          </a:solidFill>
          <a:ln xmlns:a="http://schemas.openxmlformats.org/drawingml/2006/main" w="0">
            <a:noFill/>
          </a:ln>
        </p:spPr>
      </p:sp>
      <p:sp>
        <p:nvSpPr>
          <p:cNvPr id="79" name="Allocate &amp; pack">
            <a:extLst xmlns:a="http://schemas.openxmlformats.org/drawingml/2006/main">
              <a:ext uri="{FF2B5EF4-FFF2-40B4-BE49-F238E27FC236}">
                <a16:creationId xmlns:a16="http://schemas.microsoft.com/office/drawing/2014/main" id="{594D43B5-94AC-47EC-B285-12DC33CF6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63550" y="2857500"/>
            <a:ext cx="2152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0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rPr>
              <a:t>Allocate &amp; pack</a:t>
            </a:r>
          </a:p>
        </p:txBody>
      </p:sp>
      <p:sp>
        <p:nvSpPr>
          <p:cNvPr id="80" name="Budget B">
            <a:extLst xmlns:a="http://schemas.openxmlformats.org/drawingml/2006/main">
              <a:ext uri="{FF2B5EF4-FFF2-40B4-BE49-F238E27FC236}">
                <a16:creationId xmlns:a16="http://schemas.microsoft.com/office/drawing/2014/main" id="{9FFEEF19-B09A-413C-B0F4-A876136C5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68150" y="3276600"/>
            <a:ext cx="2209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0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0" i="1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rPr>
              <a:t>B</a:t>
            </a:r>
            <a:r>
              <a:rPr sz="2325" b="0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rPr>
              <a:t>udget B</a:t>
            </a:r>
          </a:p>
        </p:txBody>
      </p:sp>
      <p:sp>
        <p:nvSpPr>
          <p:cNvPr id="81" name="line-11">
            <a:extLst xmlns:a="http://schemas.openxmlformats.org/drawingml/2006/main">
              <a:ext uri="{FF2B5EF4-FFF2-40B4-BE49-F238E27FC236}">
                <a16:creationId xmlns:a16="http://schemas.microsoft.com/office/drawing/2014/main" id="{E97DB002-4BE2-41A4-982C-EDE3F923A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3762375"/>
            <a:ext cx="4371975" cy="9525"/>
          </a:xfrm>
          <a:custGeom xmlns:a="http://schemas.openxmlformats.org/drawingml/2006/main">
            <a:pathLst>
              <a:path w="4371975" h="9525">
                <a:moveTo>
                  <a:pt x="0" y="0"/>
                </a:moveTo>
                <a:lnTo>
                  <a:pt x="43719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101010"/>
            </a:solidFill>
            <a:prstDash val="solid"/>
          </a:ln>
        </p:spPr>
      </p:sp>
      <p:sp>
        <p:nvSpPr>
          <p:cNvPr id="82" name="line-12">
            <a:extLst xmlns:a="http://schemas.openxmlformats.org/drawingml/2006/main">
              <a:ext uri="{FF2B5EF4-FFF2-40B4-BE49-F238E27FC236}">
                <a16:creationId xmlns:a16="http://schemas.microsoft.com/office/drawing/2014/main" id="{10AD96E4-B3FB-4CF2-9CF5-BD0CEB5C8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3657600"/>
            <a:ext cx="9525" cy="209550"/>
          </a:xfrm>
          <a:custGeom xmlns:a="http://schemas.openxmlformats.org/drawingml/2006/main">
            <a:pathLst>
              <a:path w="9525" h="209550">
                <a:moveTo>
                  <a:pt x="0" y="0"/>
                </a:moveTo>
                <a:lnTo>
                  <a:pt x="0" y="20955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101010"/>
            </a:solidFill>
            <a:prstDash val="solid"/>
          </a:ln>
        </p:spPr>
      </p:sp>
      <p:sp>
        <p:nvSpPr>
          <p:cNvPr id="83" name="line-13">
            <a:extLst xmlns:a="http://schemas.openxmlformats.org/drawingml/2006/main">
              <a:ext uri="{FF2B5EF4-FFF2-40B4-BE49-F238E27FC236}">
                <a16:creationId xmlns:a16="http://schemas.microsoft.com/office/drawing/2014/main" id="{75713735-AE7E-464B-A267-D452F6728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0" y="3657600"/>
            <a:ext cx="9525" cy="209550"/>
          </a:xfrm>
          <a:custGeom xmlns:a="http://schemas.openxmlformats.org/drawingml/2006/main">
            <a:pathLst>
              <a:path w="9525" h="209550">
                <a:moveTo>
                  <a:pt x="0" y="0"/>
                </a:moveTo>
                <a:lnTo>
                  <a:pt x="0" y="20955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101010"/>
            </a:solidFill>
            <a:prstDash val="solid"/>
          </a:ln>
        </p:spPr>
      </p:sp>
      <p:sp>
        <p:nvSpPr>
          <p:cNvPr id="84" name="rect-14">
            <a:extLst xmlns:a="http://schemas.openxmlformats.org/drawingml/2006/main">
              <a:ext uri="{FF2B5EF4-FFF2-40B4-BE49-F238E27FC236}">
                <a16:creationId xmlns:a16="http://schemas.microsoft.com/office/drawing/2014/main" id="{D2DDB068-41D0-47FF-A329-51697FE2A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3933825"/>
            <a:ext cx="895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3EE"/>
          </a:solidFill>
          <a:ln xmlns:a="http://schemas.openxmlformats.org/drawingml/2006/main" w="20003">
            <a:solidFill>
              <a:srgbClr val="101010"/>
            </a:solidFill>
            <a:prstDash val="solid"/>
          </a:ln>
        </p:spPr>
      </p:sp>
      <p:sp>
        <p:nvSpPr>
          <p:cNvPr id="85" name="rect-15">
            <a:extLst xmlns:a="http://schemas.openxmlformats.org/drawingml/2006/main">
              <a:ext uri="{FF2B5EF4-FFF2-40B4-BE49-F238E27FC236}">
                <a16:creationId xmlns:a16="http://schemas.microsoft.com/office/drawing/2014/main" id="{0E47FDF9-F046-4DD0-9473-7DE337753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3933825"/>
            <a:ext cx="18669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8D8"/>
          </a:solidFill>
          <a:ln xmlns:a="http://schemas.openxmlformats.org/drawingml/2006/main" w="20003">
            <a:solidFill>
              <a:srgbClr val="101010"/>
            </a:solidFill>
            <a:prstDash val="solid"/>
          </a:ln>
        </p:spPr>
      </p:sp>
      <p:sp>
        <p:nvSpPr>
          <p:cNvPr id="86" name="rect-16">
            <a:extLst xmlns:a="http://schemas.openxmlformats.org/drawingml/2006/main">
              <a:ext uri="{FF2B5EF4-FFF2-40B4-BE49-F238E27FC236}">
                <a16:creationId xmlns:a16="http://schemas.microsoft.com/office/drawing/2014/main" id="{313B147B-DD96-45AA-9A10-6DF3341BA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5025" y="3933825"/>
            <a:ext cx="16097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8D8"/>
          </a:solidFill>
          <a:ln xmlns:a="http://schemas.openxmlformats.org/drawingml/2006/main" w="20003">
            <a:solidFill>
              <a:srgbClr val="101010"/>
            </a:solidFill>
            <a:prstDash val="solid"/>
          </a:ln>
        </p:spPr>
      </p:sp>
      <p:sp>
        <p:nvSpPr>
          <p:cNvPr id="87" name="D">
            <a:extLst xmlns:a="http://schemas.openxmlformats.org/drawingml/2006/main">
              <a:ext uri="{FF2B5EF4-FFF2-40B4-BE49-F238E27FC236}">
                <a16:creationId xmlns:a16="http://schemas.microsoft.com/office/drawing/2014/main" id="{AB1F48F5-9FAE-4B6C-8B7B-0F614E963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8025" y="4352925"/>
            <a:ext cx="6858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 i="1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1" i="1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rPr>
              <a:t>D</a:t>
            </a:r>
          </a:p>
        </p:txBody>
      </p:sp>
      <p:sp>
        <p:nvSpPr>
          <p:cNvPr id="88" name="R1">
            <a:extLst xmlns:a="http://schemas.openxmlformats.org/drawingml/2006/main">
              <a:ext uri="{FF2B5EF4-FFF2-40B4-BE49-F238E27FC236}">
                <a16:creationId xmlns:a16="http://schemas.microsoft.com/office/drawing/2014/main" id="{EC95512A-438F-4FF1-82FE-63A1D3A6B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7700" y="4352925"/>
            <a:ext cx="10763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 i="1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1" i="1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rPr>
              <a:t>R1</a:t>
            </a:r>
          </a:p>
        </p:txBody>
      </p:sp>
      <p:sp>
        <p:nvSpPr>
          <p:cNvPr id="89" name="R2">
            <a:extLst xmlns:a="http://schemas.openxmlformats.org/drawingml/2006/main">
              <a:ext uri="{FF2B5EF4-FFF2-40B4-BE49-F238E27FC236}">
                <a16:creationId xmlns:a16="http://schemas.microsoft.com/office/drawing/2014/main" id="{BD712BA0-5244-4567-8CF6-A69019535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4352925"/>
            <a:ext cx="10763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 i="1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1" i="1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rPr>
              <a:t>R2</a:t>
            </a:r>
          </a:p>
        </p:txBody>
      </p:sp>
      <p:sp>
        <p:nvSpPr>
          <p:cNvPr id="90" name="Execute batch">
            <a:extLst xmlns:a="http://schemas.openxmlformats.org/drawingml/2006/main">
              <a:ext uri="{FF2B5EF4-FFF2-40B4-BE49-F238E27FC236}">
                <a16:creationId xmlns:a16="http://schemas.microsoft.com/office/drawing/2014/main" id="{A33D7808-E355-4E95-98D9-837D50247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82975" y="1409700"/>
            <a:ext cx="2790825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01010"/>
            </a:solidFill>
            <a:prstDash val="solid"/>
          </a:ln>
        </p:spPr>
      </p:sp>
      <p:sp>
        <p:nvSpPr>
          <p:cNvPr id="91" name="rect-17">
            <a:extLst xmlns:a="http://schemas.openxmlformats.org/drawingml/2006/main">
              <a:ext uri="{FF2B5EF4-FFF2-40B4-BE49-F238E27FC236}">
                <a16:creationId xmlns:a16="http://schemas.microsoft.com/office/drawing/2014/main" id="{6413B1E1-7841-4B94-9AD4-6A3288DAA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82975" y="1409700"/>
            <a:ext cx="2790825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22860">
            <a:solidFill>
              <a:srgbClr val="101010"/>
            </a:solidFill>
            <a:prstDash val="solid"/>
          </a:ln>
        </p:spPr>
      </p:sp>
      <p:sp>
        <p:nvSpPr>
          <p:cNvPr id="92" name="Step 3">
            <a:extLst xmlns:a="http://schemas.openxmlformats.org/drawingml/2006/main">
              <a:ext uri="{FF2B5EF4-FFF2-40B4-BE49-F238E27FC236}">
                <a16:creationId xmlns:a16="http://schemas.microsoft.com/office/drawing/2014/main" id="{362594E2-AE90-41F2-9393-D21FBA841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16325" y="14859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3">
            <a:extLst xmlns:a="http://schemas.openxmlformats.org/drawingml/2006/main">
              <a:ext uri="{FF2B5EF4-FFF2-40B4-BE49-F238E27FC236}">
                <a16:creationId xmlns:a16="http://schemas.microsoft.com/office/drawing/2014/main" id="{FE11651E-547A-4028-BB2D-29150C601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16325" y="1476375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3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3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sp>
        <p:nvSpPr>
          <p:cNvPr id="94" name="Execute batch">
            <a:extLst xmlns:a="http://schemas.openxmlformats.org/drawingml/2006/main">
              <a:ext uri="{FF2B5EF4-FFF2-40B4-BE49-F238E27FC236}">
                <a16:creationId xmlns:a16="http://schemas.microsoft.com/office/drawing/2014/main" id="{66484834-5620-4338-9929-0B801934C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64025" y="1504950"/>
            <a:ext cx="18954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1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0" b="1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rPr>
              <a:t>Execute batch</a:t>
            </a:r>
          </a:p>
        </p:txBody>
      </p:sp>
      <p:sp>
        <p:nvSpPr>
          <p:cNvPr id="95" name="GPU chip">
            <a:extLst xmlns:a="http://schemas.openxmlformats.org/drawingml/2006/main">
              <a:ext uri="{FF2B5EF4-FFF2-40B4-BE49-F238E27FC236}">
                <a16:creationId xmlns:a16="http://schemas.microsoft.com/office/drawing/2014/main" id="{D028F0FE-25BC-4195-91F8-C36DEF191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11675" y="2343150"/>
            <a:ext cx="762000" cy="723900"/>
          </a:xfrm>
          <a:prstGeom xmlns:a="http://schemas.openxmlformats.org/drawingml/2006/main" prst="roundRect">
            <a:avLst>
              <a:gd name="adj" fmla="val 9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01010"/>
            </a:solidFill>
            <a:prstDash val="solid"/>
          </a:ln>
        </p:spPr>
      </p:sp>
      <p:sp>
        <p:nvSpPr>
          <p:cNvPr id="96" name="GPU">
            <a:extLst xmlns:a="http://schemas.openxmlformats.org/drawingml/2006/main">
              <a:ext uri="{FF2B5EF4-FFF2-40B4-BE49-F238E27FC236}">
                <a16:creationId xmlns:a16="http://schemas.microsoft.com/office/drawing/2014/main" id="{3EB2016D-5E44-44D6-BDC6-D2C8C6850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21200" y="2466975"/>
            <a:ext cx="7429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0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0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rPr>
              <a:t>GPU</a:t>
            </a:r>
          </a:p>
        </p:txBody>
      </p:sp>
      <p:sp>
        <p:nvSpPr>
          <p:cNvPr id="97" name="line-18">
            <a:extLst xmlns:a="http://schemas.openxmlformats.org/drawingml/2006/main">
              <a:ext uri="{FF2B5EF4-FFF2-40B4-BE49-F238E27FC236}">
                <a16:creationId xmlns:a16="http://schemas.microsoft.com/office/drawing/2014/main" id="{95A175EB-593F-4EDB-B086-07B68E2C6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0" y="2152650"/>
            <a:ext cx="9525" cy="190500"/>
          </a:xfrm>
          <a:custGeom xmlns:a="http://schemas.openxmlformats.org/drawingml/2006/main">
            <a:pathLst>
              <a:path w="9525" h="190500">
                <a:moveTo>
                  <a:pt x="0" y="0"/>
                </a:moveTo>
                <a:lnTo>
                  <a:pt x="0" y="1905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01010"/>
            </a:solidFill>
            <a:prstDash val="solid"/>
          </a:ln>
        </p:spPr>
      </p:sp>
      <p:sp>
        <p:nvSpPr>
          <p:cNvPr id="98" name="line-19">
            <a:extLst xmlns:a="http://schemas.openxmlformats.org/drawingml/2006/main">
              <a:ext uri="{FF2B5EF4-FFF2-40B4-BE49-F238E27FC236}">
                <a16:creationId xmlns:a16="http://schemas.microsoft.com/office/drawing/2014/main" id="{303380C7-CCF3-4948-8DFD-55C09D6C1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0" y="3067050"/>
            <a:ext cx="9525" cy="180975"/>
          </a:xfrm>
          <a:custGeom xmlns:a="http://schemas.openxmlformats.org/drawingml/2006/main">
            <a:pathLst>
              <a:path w="9525" h="180975">
                <a:moveTo>
                  <a:pt x="0" y="0"/>
                </a:moveTo>
                <a:lnTo>
                  <a:pt x="0" y="18097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01010"/>
            </a:solidFill>
            <a:prstDash val="solid"/>
          </a:ln>
        </p:spPr>
      </p:sp>
      <p:sp>
        <p:nvSpPr>
          <p:cNvPr id="99" name="line-20">
            <a:extLst xmlns:a="http://schemas.openxmlformats.org/drawingml/2006/main">
              <a:ext uri="{FF2B5EF4-FFF2-40B4-BE49-F238E27FC236}">
                <a16:creationId xmlns:a16="http://schemas.microsoft.com/office/drawing/2014/main" id="{C867F8F9-B603-4D8E-8519-64C3A3AC4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59325" y="2152650"/>
            <a:ext cx="9525" cy="190500"/>
          </a:xfrm>
          <a:custGeom xmlns:a="http://schemas.openxmlformats.org/drawingml/2006/main">
            <a:pathLst>
              <a:path w="9525" h="190500">
                <a:moveTo>
                  <a:pt x="0" y="0"/>
                </a:moveTo>
                <a:lnTo>
                  <a:pt x="0" y="1905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01010"/>
            </a:solidFill>
            <a:prstDash val="solid"/>
          </a:ln>
        </p:spPr>
      </p:sp>
      <p:sp>
        <p:nvSpPr>
          <p:cNvPr id="100" name="line-21">
            <a:extLst xmlns:a="http://schemas.openxmlformats.org/drawingml/2006/main">
              <a:ext uri="{FF2B5EF4-FFF2-40B4-BE49-F238E27FC236}">
                <a16:creationId xmlns:a16="http://schemas.microsoft.com/office/drawing/2014/main" id="{4A68DD5A-1157-40C1-9C84-3FA8E7139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59325" y="3067050"/>
            <a:ext cx="9525" cy="180975"/>
          </a:xfrm>
          <a:custGeom xmlns:a="http://schemas.openxmlformats.org/drawingml/2006/main">
            <a:pathLst>
              <a:path w="9525" h="180975">
                <a:moveTo>
                  <a:pt x="0" y="0"/>
                </a:moveTo>
                <a:lnTo>
                  <a:pt x="0" y="18097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01010"/>
            </a:solidFill>
            <a:prstDash val="solid"/>
          </a:ln>
        </p:spPr>
      </p:sp>
      <p:sp>
        <p:nvSpPr>
          <p:cNvPr id="101" name="line-22">
            <a:extLst xmlns:a="http://schemas.openxmlformats.org/drawingml/2006/main">
              <a:ext uri="{FF2B5EF4-FFF2-40B4-BE49-F238E27FC236}">
                <a16:creationId xmlns:a16="http://schemas.microsoft.com/office/drawing/2014/main" id="{2B9D84C4-1C32-4147-B49C-9ADD70D7C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83150" y="2152650"/>
            <a:ext cx="9525" cy="190500"/>
          </a:xfrm>
          <a:custGeom xmlns:a="http://schemas.openxmlformats.org/drawingml/2006/main">
            <a:pathLst>
              <a:path w="9525" h="190500">
                <a:moveTo>
                  <a:pt x="0" y="0"/>
                </a:moveTo>
                <a:lnTo>
                  <a:pt x="0" y="1905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01010"/>
            </a:solidFill>
            <a:prstDash val="solid"/>
          </a:ln>
        </p:spPr>
      </p:sp>
      <p:sp>
        <p:nvSpPr>
          <p:cNvPr id="102" name="line-23">
            <a:extLst xmlns:a="http://schemas.openxmlformats.org/drawingml/2006/main">
              <a:ext uri="{FF2B5EF4-FFF2-40B4-BE49-F238E27FC236}">
                <a16:creationId xmlns:a16="http://schemas.microsoft.com/office/drawing/2014/main" id="{11FA7E0A-060A-4471-A82F-D1EF4C65A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83150" y="3067050"/>
            <a:ext cx="9525" cy="180975"/>
          </a:xfrm>
          <a:custGeom xmlns:a="http://schemas.openxmlformats.org/drawingml/2006/main">
            <a:pathLst>
              <a:path w="9525" h="180975">
                <a:moveTo>
                  <a:pt x="0" y="0"/>
                </a:moveTo>
                <a:lnTo>
                  <a:pt x="0" y="18097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01010"/>
            </a:solidFill>
            <a:prstDash val="solid"/>
          </a:ln>
        </p:spPr>
      </p:sp>
      <p:sp>
        <p:nvSpPr>
          <p:cNvPr id="103" name="line-24">
            <a:extLst xmlns:a="http://schemas.openxmlformats.org/drawingml/2006/main">
              <a:ext uri="{FF2B5EF4-FFF2-40B4-BE49-F238E27FC236}">
                <a16:creationId xmlns:a16="http://schemas.microsoft.com/office/drawing/2014/main" id="{DA7B0FF5-2ADD-418F-AD84-0CF0D2078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06975" y="2152650"/>
            <a:ext cx="9525" cy="190500"/>
          </a:xfrm>
          <a:custGeom xmlns:a="http://schemas.openxmlformats.org/drawingml/2006/main">
            <a:pathLst>
              <a:path w="9525" h="190500">
                <a:moveTo>
                  <a:pt x="0" y="0"/>
                </a:moveTo>
                <a:lnTo>
                  <a:pt x="0" y="1905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01010"/>
            </a:solidFill>
            <a:prstDash val="solid"/>
          </a:ln>
        </p:spPr>
      </p:sp>
      <p:sp>
        <p:nvSpPr>
          <p:cNvPr id="104" name="line-25">
            <a:extLst xmlns:a="http://schemas.openxmlformats.org/drawingml/2006/main">
              <a:ext uri="{FF2B5EF4-FFF2-40B4-BE49-F238E27FC236}">
                <a16:creationId xmlns:a16="http://schemas.microsoft.com/office/drawing/2014/main" id="{94C2E255-AD70-408D-8B5F-EC0F96906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06975" y="3067050"/>
            <a:ext cx="9525" cy="180975"/>
          </a:xfrm>
          <a:custGeom xmlns:a="http://schemas.openxmlformats.org/drawingml/2006/main">
            <a:pathLst>
              <a:path w="9525" h="180975">
                <a:moveTo>
                  <a:pt x="0" y="0"/>
                </a:moveTo>
                <a:lnTo>
                  <a:pt x="0" y="18097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01010"/>
            </a:solidFill>
            <a:prstDash val="solid"/>
          </a:ln>
        </p:spPr>
      </p:sp>
      <p:sp>
        <p:nvSpPr>
          <p:cNvPr id="105" name="line-26">
            <a:extLst xmlns:a="http://schemas.openxmlformats.org/drawingml/2006/main">
              <a:ext uri="{FF2B5EF4-FFF2-40B4-BE49-F238E27FC236}">
                <a16:creationId xmlns:a16="http://schemas.microsoft.com/office/drawing/2014/main" id="{F369CC4A-4254-48A5-A5A8-219C4FFB7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0800" y="2152650"/>
            <a:ext cx="9525" cy="190500"/>
          </a:xfrm>
          <a:custGeom xmlns:a="http://schemas.openxmlformats.org/drawingml/2006/main">
            <a:pathLst>
              <a:path w="9525" h="190500">
                <a:moveTo>
                  <a:pt x="0" y="0"/>
                </a:moveTo>
                <a:lnTo>
                  <a:pt x="0" y="1905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01010"/>
            </a:solidFill>
            <a:prstDash val="solid"/>
          </a:ln>
        </p:spPr>
      </p:sp>
      <p:sp>
        <p:nvSpPr>
          <p:cNvPr id="106" name="line-27">
            <a:extLst xmlns:a="http://schemas.openxmlformats.org/drawingml/2006/main">
              <a:ext uri="{FF2B5EF4-FFF2-40B4-BE49-F238E27FC236}">
                <a16:creationId xmlns:a16="http://schemas.microsoft.com/office/drawing/2014/main" id="{B0B70A4D-E5DD-4B38-BD6F-6073507A8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0800" y="3067050"/>
            <a:ext cx="9525" cy="180975"/>
          </a:xfrm>
          <a:custGeom xmlns:a="http://schemas.openxmlformats.org/drawingml/2006/main">
            <a:pathLst>
              <a:path w="9525" h="180975">
                <a:moveTo>
                  <a:pt x="0" y="0"/>
                </a:moveTo>
                <a:lnTo>
                  <a:pt x="0" y="18097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01010"/>
            </a:solidFill>
            <a:prstDash val="solid"/>
          </a:ln>
        </p:spPr>
      </p:sp>
      <p:sp>
        <p:nvSpPr>
          <p:cNvPr id="107" name="line-28">
            <a:extLst xmlns:a="http://schemas.openxmlformats.org/drawingml/2006/main">
              <a:ext uri="{FF2B5EF4-FFF2-40B4-BE49-F238E27FC236}">
                <a16:creationId xmlns:a16="http://schemas.microsoft.com/office/drawing/2014/main" id="{FDB3960F-39D7-45D0-B8AC-8C27FB364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30700" y="2447925"/>
            <a:ext cx="180975" cy="9525"/>
          </a:xfrm>
          <a:custGeom xmlns:a="http://schemas.openxmlformats.org/drawingml/2006/main">
            <a:pathLst>
              <a:path w="180975" h="9525">
                <a:moveTo>
                  <a:pt x="0" y="0"/>
                </a:moveTo>
                <a:lnTo>
                  <a:pt x="1809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01010"/>
            </a:solidFill>
            <a:prstDash val="solid"/>
          </a:ln>
        </p:spPr>
      </p:sp>
      <p:sp>
        <p:nvSpPr>
          <p:cNvPr id="108" name="line-29">
            <a:extLst xmlns:a="http://schemas.openxmlformats.org/drawingml/2006/main">
              <a:ext uri="{FF2B5EF4-FFF2-40B4-BE49-F238E27FC236}">
                <a16:creationId xmlns:a16="http://schemas.microsoft.com/office/drawing/2014/main" id="{6E2B5F7E-6D55-49FF-9B83-58D090466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73675" y="2447925"/>
            <a:ext cx="171450" cy="9525"/>
          </a:xfrm>
          <a:custGeom xmlns:a="http://schemas.openxmlformats.org/drawingml/2006/main">
            <a:pathLst>
              <a:path w="171450" h="9525">
                <a:moveTo>
                  <a:pt x="0" y="0"/>
                </a:moveTo>
                <a:lnTo>
                  <a:pt x="1714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01010"/>
            </a:solidFill>
            <a:prstDash val="solid"/>
          </a:ln>
        </p:spPr>
      </p:sp>
      <p:sp>
        <p:nvSpPr>
          <p:cNvPr id="109" name="line-30">
            <a:extLst xmlns:a="http://schemas.openxmlformats.org/drawingml/2006/main">
              <a:ext uri="{FF2B5EF4-FFF2-40B4-BE49-F238E27FC236}">
                <a16:creationId xmlns:a16="http://schemas.microsoft.com/office/drawing/2014/main" id="{AC06DC97-89D8-4A35-80D2-408BF1007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30700" y="2571750"/>
            <a:ext cx="180975" cy="9525"/>
          </a:xfrm>
          <a:custGeom xmlns:a="http://schemas.openxmlformats.org/drawingml/2006/main">
            <a:pathLst>
              <a:path w="180975" h="9525">
                <a:moveTo>
                  <a:pt x="0" y="0"/>
                </a:moveTo>
                <a:lnTo>
                  <a:pt x="1809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01010"/>
            </a:solidFill>
            <a:prstDash val="solid"/>
          </a:ln>
        </p:spPr>
      </p:sp>
      <p:sp>
        <p:nvSpPr>
          <p:cNvPr id="110" name="line-31">
            <a:extLst xmlns:a="http://schemas.openxmlformats.org/drawingml/2006/main">
              <a:ext uri="{FF2B5EF4-FFF2-40B4-BE49-F238E27FC236}">
                <a16:creationId xmlns:a16="http://schemas.microsoft.com/office/drawing/2014/main" id="{1CF4FA78-12ED-4380-84C1-21050AB3B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73675" y="2571750"/>
            <a:ext cx="171450" cy="9525"/>
          </a:xfrm>
          <a:custGeom xmlns:a="http://schemas.openxmlformats.org/drawingml/2006/main">
            <a:pathLst>
              <a:path w="171450" h="9525">
                <a:moveTo>
                  <a:pt x="0" y="0"/>
                </a:moveTo>
                <a:lnTo>
                  <a:pt x="1714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01010"/>
            </a:solidFill>
            <a:prstDash val="solid"/>
          </a:ln>
        </p:spPr>
      </p:sp>
      <p:sp>
        <p:nvSpPr>
          <p:cNvPr id="111" name="line-32">
            <a:extLst xmlns:a="http://schemas.openxmlformats.org/drawingml/2006/main">
              <a:ext uri="{FF2B5EF4-FFF2-40B4-BE49-F238E27FC236}">
                <a16:creationId xmlns:a16="http://schemas.microsoft.com/office/drawing/2014/main" id="{C1463C45-29F9-4891-B4EC-92AD7B259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30700" y="2695575"/>
            <a:ext cx="180975" cy="9525"/>
          </a:xfrm>
          <a:custGeom xmlns:a="http://schemas.openxmlformats.org/drawingml/2006/main">
            <a:pathLst>
              <a:path w="180975" h="9525">
                <a:moveTo>
                  <a:pt x="0" y="0"/>
                </a:moveTo>
                <a:lnTo>
                  <a:pt x="1809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01010"/>
            </a:solidFill>
            <a:prstDash val="solid"/>
          </a:ln>
        </p:spPr>
      </p:sp>
      <p:sp>
        <p:nvSpPr>
          <p:cNvPr id="112" name="line-33">
            <a:extLst xmlns:a="http://schemas.openxmlformats.org/drawingml/2006/main">
              <a:ext uri="{FF2B5EF4-FFF2-40B4-BE49-F238E27FC236}">
                <a16:creationId xmlns:a16="http://schemas.microsoft.com/office/drawing/2014/main" id="{02CF9F14-C6D6-46D4-BEB4-B0974DCF7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73675" y="2695575"/>
            <a:ext cx="171450" cy="9525"/>
          </a:xfrm>
          <a:custGeom xmlns:a="http://schemas.openxmlformats.org/drawingml/2006/main">
            <a:pathLst>
              <a:path w="171450" h="9525">
                <a:moveTo>
                  <a:pt x="0" y="0"/>
                </a:moveTo>
                <a:lnTo>
                  <a:pt x="1714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01010"/>
            </a:solidFill>
            <a:prstDash val="solid"/>
          </a:ln>
        </p:spPr>
      </p:sp>
      <p:sp>
        <p:nvSpPr>
          <p:cNvPr id="113" name="line-34">
            <a:extLst xmlns:a="http://schemas.openxmlformats.org/drawingml/2006/main">
              <a:ext uri="{FF2B5EF4-FFF2-40B4-BE49-F238E27FC236}">
                <a16:creationId xmlns:a16="http://schemas.microsoft.com/office/drawing/2014/main" id="{8C1465E3-3571-4E71-AACE-3F80F841E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30700" y="2819400"/>
            <a:ext cx="180975" cy="9525"/>
          </a:xfrm>
          <a:custGeom xmlns:a="http://schemas.openxmlformats.org/drawingml/2006/main">
            <a:pathLst>
              <a:path w="180975" h="9525">
                <a:moveTo>
                  <a:pt x="0" y="0"/>
                </a:moveTo>
                <a:lnTo>
                  <a:pt x="1809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01010"/>
            </a:solidFill>
            <a:prstDash val="solid"/>
          </a:ln>
        </p:spPr>
      </p:sp>
      <p:sp>
        <p:nvSpPr>
          <p:cNvPr id="114" name="line-35">
            <a:extLst xmlns:a="http://schemas.openxmlformats.org/drawingml/2006/main">
              <a:ext uri="{FF2B5EF4-FFF2-40B4-BE49-F238E27FC236}">
                <a16:creationId xmlns:a16="http://schemas.microsoft.com/office/drawing/2014/main" id="{B38652FA-E4E4-4105-98AE-0BEE7DC7A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73675" y="2819400"/>
            <a:ext cx="171450" cy="9525"/>
          </a:xfrm>
          <a:custGeom xmlns:a="http://schemas.openxmlformats.org/drawingml/2006/main">
            <a:pathLst>
              <a:path w="171450" h="9525">
                <a:moveTo>
                  <a:pt x="0" y="0"/>
                </a:moveTo>
                <a:lnTo>
                  <a:pt x="1714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01010"/>
            </a:solidFill>
            <a:prstDash val="solid"/>
          </a:ln>
        </p:spPr>
      </p:sp>
      <p:sp>
        <p:nvSpPr>
          <p:cNvPr id="115" name="line-36">
            <a:extLst xmlns:a="http://schemas.openxmlformats.org/drawingml/2006/main">
              <a:ext uri="{FF2B5EF4-FFF2-40B4-BE49-F238E27FC236}">
                <a16:creationId xmlns:a16="http://schemas.microsoft.com/office/drawing/2014/main" id="{42E3082C-FEF9-4FA8-8AFE-DD0773445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30700" y="2943225"/>
            <a:ext cx="180975" cy="9525"/>
          </a:xfrm>
          <a:custGeom xmlns:a="http://schemas.openxmlformats.org/drawingml/2006/main">
            <a:pathLst>
              <a:path w="180975" h="9525">
                <a:moveTo>
                  <a:pt x="0" y="0"/>
                </a:moveTo>
                <a:lnTo>
                  <a:pt x="1809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01010"/>
            </a:solidFill>
            <a:prstDash val="solid"/>
          </a:ln>
        </p:spPr>
      </p:sp>
      <p:sp>
        <p:nvSpPr>
          <p:cNvPr id="116" name="line-37">
            <a:extLst xmlns:a="http://schemas.openxmlformats.org/drawingml/2006/main">
              <a:ext uri="{FF2B5EF4-FFF2-40B4-BE49-F238E27FC236}">
                <a16:creationId xmlns:a16="http://schemas.microsoft.com/office/drawing/2014/main" id="{E2164C2A-492B-4343-BE96-60DF5FE30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73675" y="2943225"/>
            <a:ext cx="171450" cy="9525"/>
          </a:xfrm>
          <a:custGeom xmlns:a="http://schemas.openxmlformats.org/drawingml/2006/main">
            <a:pathLst>
              <a:path w="171450" h="9525">
                <a:moveTo>
                  <a:pt x="0" y="0"/>
                </a:moveTo>
                <a:lnTo>
                  <a:pt x="1714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01010"/>
            </a:solidFill>
            <a:prstDash val="solid"/>
          </a:ln>
        </p:spPr>
      </p:sp>
      <p:sp>
        <p:nvSpPr>
          <p:cNvPr id="117" name="rect-38">
            <a:extLst xmlns:a="http://schemas.openxmlformats.org/drawingml/2006/main">
              <a:ext uri="{FF2B5EF4-FFF2-40B4-BE49-F238E27FC236}">
                <a16:creationId xmlns:a16="http://schemas.microsoft.com/office/drawing/2014/main" id="{5EA8C925-C03F-4C71-BC1F-5CF186C47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82975" y="3771900"/>
            <a:ext cx="279082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28575">
            <a:solidFill>
              <a:srgbClr val="101010"/>
            </a:solidFill>
            <a:prstDash val="solid"/>
          </a:ln>
        </p:spPr>
      </p:sp>
      <p:sp>
        <p:nvSpPr>
          <p:cNvPr id="118" name="Step 4">
            <a:extLst xmlns:a="http://schemas.openxmlformats.org/drawingml/2006/main">
              <a:ext uri="{FF2B5EF4-FFF2-40B4-BE49-F238E27FC236}">
                <a16:creationId xmlns:a16="http://schemas.microsoft.com/office/drawing/2014/main" id="{DD96E2AE-7154-49F0-AB7D-096D380FB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16325" y="385762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9" name="4">
            <a:extLst xmlns:a="http://schemas.openxmlformats.org/drawingml/2006/main">
              <a:ext uri="{FF2B5EF4-FFF2-40B4-BE49-F238E27FC236}">
                <a16:creationId xmlns:a16="http://schemas.microsoft.com/office/drawing/2014/main" id="{70135AA7-7EFF-4EE8-9128-3636E2225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16325" y="384810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3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3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4</a:t>
            </a:r>
          </a:p>
        </p:txBody>
      </p:sp>
      <p:sp>
        <p:nvSpPr>
          <p:cNvPr id="120" name="Update states">
            <a:extLst xmlns:a="http://schemas.openxmlformats.org/drawingml/2006/main">
              <a:ext uri="{FF2B5EF4-FFF2-40B4-BE49-F238E27FC236}">
                <a16:creationId xmlns:a16="http://schemas.microsoft.com/office/drawing/2014/main" id="{EB3C57AD-51B2-4C12-B036-E01E6BCA0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64025" y="3867150"/>
            <a:ext cx="18954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1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0" b="1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rPr>
              <a:t>Update states</a:t>
            </a:r>
          </a:p>
        </p:txBody>
      </p:sp>
      <p:sp>
        <p:nvSpPr>
          <p:cNvPr id="121" name="line-39">
            <a:extLst xmlns:a="http://schemas.openxmlformats.org/drawingml/2006/main">
              <a:ext uri="{FF2B5EF4-FFF2-40B4-BE49-F238E27FC236}">
                <a16:creationId xmlns:a16="http://schemas.microsoft.com/office/drawing/2014/main" id="{E210D297-1699-4DC4-A1C9-E7F8B5D93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886325"/>
            <a:ext cx="4133850" cy="952500"/>
          </a:xfrm>
          <a:custGeom xmlns:a="http://schemas.openxmlformats.org/drawingml/2006/main">
            <a:pathLst>
              <a:path w="4133850" h="952500">
                <a:moveTo>
                  <a:pt x="4133850" y="0"/>
                </a:moveTo>
                <a:lnTo>
                  <a:pt x="0" y="95250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333333"/>
            </a:solidFill>
            <a:prstDash val="dash"/>
          </a:ln>
        </p:spPr>
      </p:sp>
      <p:sp>
        <p:nvSpPr>
          <p:cNvPr id="122" name="line-40">
            <a:extLst xmlns:a="http://schemas.openxmlformats.org/drawingml/2006/main">
              <a:ext uri="{FF2B5EF4-FFF2-40B4-BE49-F238E27FC236}">
                <a16:creationId xmlns:a16="http://schemas.microsoft.com/office/drawing/2014/main" id="{925D82DC-E221-4D28-AA36-6D0EB29DF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914900"/>
            <a:ext cx="323850" cy="933450"/>
          </a:xfrm>
          <a:custGeom xmlns:a="http://schemas.openxmlformats.org/drawingml/2006/main">
            <a:pathLst>
              <a:path w="323850" h="933450">
                <a:moveTo>
                  <a:pt x="0" y="0"/>
                </a:moveTo>
                <a:lnTo>
                  <a:pt x="323850" y="93345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333333"/>
            </a:solidFill>
            <a:prstDash val="dash"/>
          </a:ln>
        </p:spPr>
      </p:sp>
      <p:sp>
        <p:nvSpPr>
          <p:cNvPr id="123" name="line-41">
            <a:extLst xmlns:a="http://schemas.openxmlformats.org/drawingml/2006/main">
              <a:ext uri="{FF2B5EF4-FFF2-40B4-BE49-F238E27FC236}">
                <a16:creationId xmlns:a16="http://schemas.microsoft.com/office/drawing/2014/main" id="{DAD7AD11-EA79-4E45-B707-186DD6995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4914900"/>
            <a:ext cx="438150" cy="933450"/>
          </a:xfrm>
          <a:custGeom xmlns:a="http://schemas.openxmlformats.org/drawingml/2006/main">
            <a:pathLst>
              <a:path w="438150" h="933450">
                <a:moveTo>
                  <a:pt x="438150" y="0"/>
                </a:moveTo>
                <a:lnTo>
                  <a:pt x="0" y="93345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333333"/>
            </a:solidFill>
            <a:prstDash val="dash"/>
          </a:ln>
        </p:spPr>
      </p:sp>
      <p:sp>
        <p:nvSpPr>
          <p:cNvPr id="124" name="line-42">
            <a:extLst xmlns:a="http://schemas.openxmlformats.org/drawingml/2006/main">
              <a:ext uri="{FF2B5EF4-FFF2-40B4-BE49-F238E27FC236}">
                <a16:creationId xmlns:a16="http://schemas.microsoft.com/office/drawing/2014/main" id="{2A61641F-3F0E-4FA9-9356-D28D7E047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16225" y="4914900"/>
            <a:ext cx="3752850" cy="933450"/>
          </a:xfrm>
          <a:custGeom xmlns:a="http://schemas.openxmlformats.org/drawingml/2006/main">
            <a:pathLst>
              <a:path w="3752850" h="933450">
                <a:moveTo>
                  <a:pt x="0" y="0"/>
                </a:moveTo>
                <a:lnTo>
                  <a:pt x="3752850" y="93345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333333"/>
            </a:solidFill>
            <a:prstDash val="dash"/>
          </a:ln>
        </p:spPr>
      </p:sp>
      <p:sp>
        <p:nvSpPr>
          <p:cNvPr id="125" name="Problem 1: FCFS ignores urgency">
            <a:extLst xmlns:a="http://schemas.openxmlformats.org/drawingml/2006/main">
              <a:ext uri="{FF2B5EF4-FFF2-40B4-BE49-F238E27FC236}">
                <a16:creationId xmlns:a16="http://schemas.microsoft.com/office/drawing/2014/main" id="{9D6249C7-0911-40B9-A5A1-AFCB54F48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5848350"/>
            <a:ext cx="9553575" cy="4591050"/>
          </a:xfrm>
          <a:prstGeom xmlns:a="http://schemas.openxmlformats.org/drawingml/2006/main" prst="roundRect">
            <a:avLst>
              <a:gd name="adj" fmla="val 16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01010"/>
            </a:solidFill>
            <a:prstDash val="solid"/>
          </a:ln>
        </p:spPr>
      </p:sp>
      <p:sp>
        <p:nvSpPr>
          <p:cNvPr id="126" name="rect-43">
            <a:extLst xmlns:a="http://schemas.openxmlformats.org/drawingml/2006/main">
              <a:ext uri="{FF2B5EF4-FFF2-40B4-BE49-F238E27FC236}">
                <a16:creationId xmlns:a16="http://schemas.microsoft.com/office/drawing/2014/main" id="{5A8CF627-68A1-466C-B068-CFD5F0B9F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5848350"/>
            <a:ext cx="9553575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22860">
            <a:solidFill>
              <a:srgbClr val="101010"/>
            </a:solidFill>
            <a:prstDash val="solid"/>
          </a:ln>
        </p:spPr>
      </p:sp>
      <p:sp>
        <p:nvSpPr>
          <p:cNvPr id="127" name="Problem 1: FCFS ignores urgency">
            <a:extLst xmlns:a="http://schemas.openxmlformats.org/drawingml/2006/main">
              <a:ext uri="{FF2B5EF4-FFF2-40B4-BE49-F238E27FC236}">
                <a16:creationId xmlns:a16="http://schemas.microsoft.com/office/drawing/2014/main" id="{0DA3B68D-F577-4AE0-ADBE-E57519A4A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943600"/>
            <a:ext cx="817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1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1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rPr>
              <a:t>Problem 1: FCFS ignores urgency</a:t>
            </a:r>
          </a:p>
        </p:txBody>
      </p:sp>
      <p:sp>
        <p:nvSpPr>
          <p:cNvPr id="128" name="R0: earlier long request; R1: loose TTFT; R2: tight TTFT">
            <a:extLst xmlns:a="http://schemas.openxmlformats.org/drawingml/2006/main">
              <a:ext uri="{FF2B5EF4-FFF2-40B4-BE49-F238E27FC236}">
                <a16:creationId xmlns:a16="http://schemas.microsoft.com/office/drawing/2014/main" id="{6AFE33AB-64AB-4F4C-85F5-342FCAF64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6486525"/>
            <a:ext cx="7477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0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rPr>
              <a:t>R0: earlier long request; R1: loose TTFT; R2: tight TTFT</a:t>
            </a:r>
          </a:p>
        </p:txBody>
      </p:sp>
      <p:sp>
        <p:nvSpPr>
          <p:cNvPr id="129" name="All waiting at t0; D continues decoding">
            <a:extLst xmlns:a="http://schemas.openxmlformats.org/drawingml/2006/main">
              <a:ext uri="{FF2B5EF4-FFF2-40B4-BE49-F238E27FC236}">
                <a16:creationId xmlns:a16="http://schemas.microsoft.com/office/drawing/2014/main" id="{61E2F2E4-54D3-4DFE-B514-F65977358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6819900"/>
            <a:ext cx="5953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0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rPr>
              <a:t>All waiting at t0; D continues decoding</a:t>
            </a:r>
          </a:p>
        </p:txBody>
      </p:sp>
      <p:sp>
        <p:nvSpPr>
          <p:cNvPr id="130" name="R2 TTFT ddl">
            <a:extLst xmlns:a="http://schemas.openxmlformats.org/drawingml/2006/main">
              <a:ext uri="{FF2B5EF4-FFF2-40B4-BE49-F238E27FC236}">
                <a16:creationId xmlns:a16="http://schemas.microsoft.com/office/drawing/2014/main" id="{FE7EA618-84CE-4B8C-9E80-D814296E9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7191375"/>
            <a:ext cx="1790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rPr>
              <a:t>R2 TTFT ddl</a:t>
            </a:r>
          </a:p>
        </p:txBody>
      </p:sp>
      <p:sp>
        <p:nvSpPr>
          <p:cNvPr id="131" name="R1 TTFT ddl">
            <a:extLst xmlns:a="http://schemas.openxmlformats.org/drawingml/2006/main">
              <a:ext uri="{FF2B5EF4-FFF2-40B4-BE49-F238E27FC236}">
                <a16:creationId xmlns:a16="http://schemas.microsoft.com/office/drawing/2014/main" id="{448C28D2-F0FF-4B1A-B2C7-7B9ABD104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7191375"/>
            <a:ext cx="18002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rPr>
              <a:t>R1 TTFT ddl</a:t>
            </a:r>
          </a:p>
        </p:txBody>
      </p:sp>
      <p:sp>
        <p:nvSpPr>
          <p:cNvPr id="132" name="FCFS">
            <a:extLst xmlns:a="http://schemas.openxmlformats.org/drawingml/2006/main">
              <a:ext uri="{FF2B5EF4-FFF2-40B4-BE49-F238E27FC236}">
                <a16:creationId xmlns:a16="http://schemas.microsoft.com/office/drawing/2014/main" id="{F9CC7E34-F298-4F46-9B60-6AE79AF8D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7810500"/>
            <a:ext cx="1047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1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rPr>
              <a:t>FCFS</a:t>
            </a:r>
          </a:p>
        </p:txBody>
      </p:sp>
      <p:sp>
        <p:nvSpPr>
          <p:cNvPr id="133" name="better">
            <a:extLst xmlns:a="http://schemas.openxmlformats.org/drawingml/2006/main">
              <a:ext uri="{FF2B5EF4-FFF2-40B4-BE49-F238E27FC236}">
                <a16:creationId xmlns:a16="http://schemas.microsoft.com/office/drawing/2014/main" id="{8948C4FB-D697-40DF-962C-4332E6FC3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610600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1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rPr>
              <a:t>better</a:t>
            </a:r>
          </a:p>
        </p:txBody>
      </p:sp>
      <p:sp>
        <p:nvSpPr>
          <p:cNvPr id="134" name="schedule">
            <a:extLst xmlns:a="http://schemas.openxmlformats.org/drawingml/2006/main">
              <a:ext uri="{FF2B5EF4-FFF2-40B4-BE49-F238E27FC236}">
                <a16:creationId xmlns:a16="http://schemas.microsoft.com/office/drawing/2014/main" id="{A929BBAF-17AB-4A9F-9E19-11D2A9936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953500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1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rPr>
              <a:t>schedule</a:t>
            </a:r>
          </a:p>
        </p:txBody>
      </p:sp>
      <p:sp>
        <p:nvSpPr>
          <p:cNvPr id="135" name="rect-44">
            <a:extLst xmlns:a="http://schemas.openxmlformats.org/drawingml/2006/main">
              <a:ext uri="{FF2B5EF4-FFF2-40B4-BE49-F238E27FC236}">
                <a16:creationId xmlns:a16="http://schemas.microsoft.com/office/drawing/2014/main" id="{2FF51754-F6F6-4EF9-932E-82FE90EE3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7791450"/>
            <a:ext cx="186690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1F8"/>
          </a:solidFill>
          <a:ln xmlns:a="http://schemas.openxmlformats.org/drawingml/2006/main" w="20955">
            <a:solidFill>
              <a:srgbClr val="101010"/>
            </a:solidFill>
            <a:prstDash val="solid"/>
          </a:ln>
        </p:spPr>
      </p:sp>
      <p:sp>
        <p:nvSpPr>
          <p:cNvPr id="136" name="R0">
            <a:extLst xmlns:a="http://schemas.openxmlformats.org/drawingml/2006/main">
              <a:ext uri="{FF2B5EF4-FFF2-40B4-BE49-F238E27FC236}">
                <a16:creationId xmlns:a16="http://schemas.microsoft.com/office/drawing/2014/main" id="{D27025AA-4953-4139-BB9D-77F8A2B03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7829550"/>
            <a:ext cx="152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0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rPr>
              <a:t>R0</a:t>
            </a:r>
          </a:p>
        </p:txBody>
      </p:sp>
      <p:sp>
        <p:nvSpPr>
          <p:cNvPr id="137" name="rect-45">
            <a:extLst xmlns:a="http://schemas.openxmlformats.org/drawingml/2006/main">
              <a:ext uri="{FF2B5EF4-FFF2-40B4-BE49-F238E27FC236}">
                <a16:creationId xmlns:a16="http://schemas.microsoft.com/office/drawing/2014/main" id="{B70D7138-4857-4DBC-BC21-54DE7B29E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7791450"/>
            <a:ext cx="186690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1F8"/>
          </a:solidFill>
          <a:ln xmlns:a="http://schemas.openxmlformats.org/drawingml/2006/main" w="20955">
            <a:solidFill>
              <a:srgbClr val="101010"/>
            </a:solidFill>
            <a:prstDash val="solid"/>
          </a:ln>
        </p:spPr>
      </p:sp>
      <p:sp>
        <p:nvSpPr>
          <p:cNvPr id="138" name="R0">
            <a:extLst xmlns:a="http://schemas.openxmlformats.org/drawingml/2006/main">
              <a:ext uri="{FF2B5EF4-FFF2-40B4-BE49-F238E27FC236}">
                <a16:creationId xmlns:a16="http://schemas.microsoft.com/office/drawing/2014/main" id="{8F8B3FBE-C19A-410E-A1E9-7FAB81A87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7829550"/>
            <a:ext cx="152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0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rPr>
              <a:t>R0</a:t>
            </a:r>
          </a:p>
        </p:txBody>
      </p:sp>
      <p:sp>
        <p:nvSpPr>
          <p:cNvPr id="139" name="rect-46">
            <a:extLst xmlns:a="http://schemas.openxmlformats.org/drawingml/2006/main">
              <a:ext uri="{FF2B5EF4-FFF2-40B4-BE49-F238E27FC236}">
                <a16:creationId xmlns:a16="http://schemas.microsoft.com/office/drawing/2014/main" id="{B2924D02-B34C-47CC-B58E-15586E60F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7791450"/>
            <a:ext cx="201930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FFD"/>
          </a:solidFill>
          <a:ln xmlns:a="http://schemas.openxmlformats.org/drawingml/2006/main" w="20955">
            <a:solidFill>
              <a:srgbClr val="101010"/>
            </a:solidFill>
            <a:prstDash val="solid"/>
          </a:ln>
        </p:spPr>
      </p:sp>
      <p:sp>
        <p:nvSpPr>
          <p:cNvPr id="140" name="R1">
            <a:extLst xmlns:a="http://schemas.openxmlformats.org/drawingml/2006/main">
              <a:ext uri="{FF2B5EF4-FFF2-40B4-BE49-F238E27FC236}">
                <a16:creationId xmlns:a16="http://schemas.microsoft.com/office/drawing/2014/main" id="{7BAE2211-32CE-41F8-9442-2AE9FCC7B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7829550"/>
            <a:ext cx="1676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0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rPr>
              <a:t>R1</a:t>
            </a:r>
          </a:p>
        </p:txBody>
      </p:sp>
      <p:sp>
        <p:nvSpPr>
          <p:cNvPr id="141" name="rect-47">
            <a:extLst xmlns:a="http://schemas.openxmlformats.org/drawingml/2006/main">
              <a:ext uri="{FF2B5EF4-FFF2-40B4-BE49-F238E27FC236}">
                <a16:creationId xmlns:a16="http://schemas.microsoft.com/office/drawing/2014/main" id="{533EC28B-8F09-4CBB-B80F-E7A698354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7791450"/>
            <a:ext cx="185737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8D8"/>
          </a:solidFill>
          <a:ln xmlns:a="http://schemas.openxmlformats.org/drawingml/2006/main" w="20955">
            <a:solidFill>
              <a:srgbClr val="101010"/>
            </a:solidFill>
            <a:prstDash val="solid"/>
          </a:ln>
        </p:spPr>
      </p:sp>
      <p:sp>
        <p:nvSpPr>
          <p:cNvPr id="142" name="R2">
            <a:extLst xmlns:a="http://schemas.openxmlformats.org/drawingml/2006/main">
              <a:ext uri="{FF2B5EF4-FFF2-40B4-BE49-F238E27FC236}">
                <a16:creationId xmlns:a16="http://schemas.microsoft.com/office/drawing/2014/main" id="{B73056C9-F233-4303-9645-C267CA703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7829550"/>
            <a:ext cx="15144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0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rPr>
              <a:t>R2</a:t>
            </a:r>
          </a:p>
        </p:txBody>
      </p:sp>
      <p:sp>
        <p:nvSpPr>
          <p:cNvPr id="143" name="rect-48">
            <a:extLst xmlns:a="http://schemas.openxmlformats.org/drawingml/2006/main">
              <a:ext uri="{FF2B5EF4-FFF2-40B4-BE49-F238E27FC236}">
                <a16:creationId xmlns:a16="http://schemas.microsoft.com/office/drawing/2014/main" id="{B29B6CE8-92DA-4E5A-9A2E-FF673C448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8610600"/>
            <a:ext cx="18669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8D8"/>
          </a:solidFill>
          <a:ln xmlns:a="http://schemas.openxmlformats.org/drawingml/2006/main" w="20955">
            <a:solidFill>
              <a:srgbClr val="101010"/>
            </a:solidFill>
            <a:prstDash val="solid"/>
          </a:ln>
        </p:spPr>
      </p:sp>
      <p:sp>
        <p:nvSpPr>
          <p:cNvPr id="144" name="R2">
            <a:extLst xmlns:a="http://schemas.openxmlformats.org/drawingml/2006/main">
              <a:ext uri="{FF2B5EF4-FFF2-40B4-BE49-F238E27FC236}">
                <a16:creationId xmlns:a16="http://schemas.microsoft.com/office/drawing/2014/main" id="{654CB5EF-87AC-461A-84E6-EE712C561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8648700"/>
            <a:ext cx="1485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0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rPr>
              <a:t>R2</a:t>
            </a:r>
          </a:p>
        </p:txBody>
      </p:sp>
      <p:sp>
        <p:nvSpPr>
          <p:cNvPr id="145" name="rect-49">
            <a:extLst xmlns:a="http://schemas.openxmlformats.org/drawingml/2006/main">
              <a:ext uri="{FF2B5EF4-FFF2-40B4-BE49-F238E27FC236}">
                <a16:creationId xmlns:a16="http://schemas.microsoft.com/office/drawing/2014/main" id="{6EBFB8AF-7DC0-477B-AFA2-8FBFFB438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8610600"/>
            <a:ext cx="18669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FFD"/>
          </a:solidFill>
          <a:ln xmlns:a="http://schemas.openxmlformats.org/drawingml/2006/main" w="20955">
            <a:solidFill>
              <a:srgbClr val="101010"/>
            </a:solidFill>
            <a:prstDash val="solid"/>
          </a:ln>
        </p:spPr>
      </p:sp>
      <p:sp>
        <p:nvSpPr>
          <p:cNvPr id="146" name="R1">
            <a:extLst xmlns:a="http://schemas.openxmlformats.org/drawingml/2006/main">
              <a:ext uri="{FF2B5EF4-FFF2-40B4-BE49-F238E27FC236}">
                <a16:creationId xmlns:a16="http://schemas.microsoft.com/office/drawing/2014/main" id="{EDE2BB42-1992-42C7-A450-41EC9C043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8648700"/>
            <a:ext cx="1485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0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rPr>
              <a:t>R1</a:t>
            </a:r>
          </a:p>
        </p:txBody>
      </p:sp>
      <p:sp>
        <p:nvSpPr>
          <p:cNvPr id="147" name="rect-50">
            <a:extLst xmlns:a="http://schemas.openxmlformats.org/drawingml/2006/main">
              <a:ext uri="{FF2B5EF4-FFF2-40B4-BE49-F238E27FC236}">
                <a16:creationId xmlns:a16="http://schemas.microsoft.com/office/drawing/2014/main" id="{704A8B37-3E27-40BA-BD36-1ED96FDB5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8610600"/>
            <a:ext cx="20193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1F8"/>
          </a:solidFill>
          <a:ln xmlns:a="http://schemas.openxmlformats.org/drawingml/2006/main" w="20955">
            <a:solidFill>
              <a:srgbClr val="101010"/>
            </a:solidFill>
            <a:prstDash val="solid"/>
          </a:ln>
        </p:spPr>
      </p:sp>
      <p:sp>
        <p:nvSpPr>
          <p:cNvPr id="148" name="R0">
            <a:extLst xmlns:a="http://schemas.openxmlformats.org/drawingml/2006/main">
              <a:ext uri="{FF2B5EF4-FFF2-40B4-BE49-F238E27FC236}">
                <a16:creationId xmlns:a16="http://schemas.microsoft.com/office/drawing/2014/main" id="{33760DA1-FE9A-4A87-9C48-3E251921F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8648700"/>
            <a:ext cx="1638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0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rPr>
              <a:t>R0</a:t>
            </a:r>
          </a:p>
        </p:txBody>
      </p:sp>
      <p:sp>
        <p:nvSpPr>
          <p:cNvPr id="149" name="rect-51">
            <a:extLst xmlns:a="http://schemas.openxmlformats.org/drawingml/2006/main">
              <a:ext uri="{FF2B5EF4-FFF2-40B4-BE49-F238E27FC236}">
                <a16:creationId xmlns:a16="http://schemas.microsoft.com/office/drawing/2014/main" id="{8CE48851-82EE-4F90-9BDB-39FE47C76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8610600"/>
            <a:ext cx="18573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1F8"/>
          </a:solidFill>
          <a:ln xmlns:a="http://schemas.openxmlformats.org/drawingml/2006/main" w="20955">
            <a:solidFill>
              <a:srgbClr val="101010"/>
            </a:solidFill>
            <a:prstDash val="solid"/>
          </a:ln>
        </p:spPr>
      </p:sp>
      <p:sp>
        <p:nvSpPr>
          <p:cNvPr id="150" name="R0">
            <a:extLst xmlns:a="http://schemas.openxmlformats.org/drawingml/2006/main">
              <a:ext uri="{FF2B5EF4-FFF2-40B4-BE49-F238E27FC236}">
                <a16:creationId xmlns:a16="http://schemas.microsoft.com/office/drawing/2014/main" id="{F1B87F54-2D35-4E2D-8BB2-05734DC9B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8648700"/>
            <a:ext cx="1476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0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rPr>
              <a:t>R0</a:t>
            </a:r>
          </a:p>
        </p:txBody>
      </p:sp>
      <p:sp>
        <p:nvSpPr>
          <p:cNvPr id="151" name="R2 deadline">
            <a:extLst xmlns:a="http://schemas.openxmlformats.org/drawingml/2006/main">
              <a:ext uri="{FF2B5EF4-FFF2-40B4-BE49-F238E27FC236}">
                <a16:creationId xmlns:a16="http://schemas.microsoft.com/office/drawing/2014/main" id="{C7AFBCF6-13E3-4FA2-896E-E5E9BF19F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7515225"/>
            <a:ext cx="9525" cy="1781175"/>
          </a:xfrm>
          <a:custGeom xmlns:a="http://schemas.openxmlformats.org/drawingml/2006/main">
            <a:pathLst>
              <a:path w="9525" h="1781175">
                <a:moveTo>
                  <a:pt x="0" y="0"/>
                </a:moveTo>
                <a:lnTo>
                  <a:pt x="0" y="1781175"/>
                </a:lnTo>
              </a:path>
            </a:pathLst>
          </a:custGeom>
          <a:noFill xmlns:a="http://schemas.openxmlformats.org/drawingml/2006/main"/>
          <a:ln xmlns:a="http://schemas.openxmlformats.org/drawingml/2006/main" w="26670">
            <a:solidFill>
              <a:srgbClr val="F21D24"/>
            </a:solidFill>
            <a:prstDash val="dash"/>
          </a:ln>
        </p:spPr>
      </p:sp>
      <p:sp>
        <p:nvSpPr>
          <p:cNvPr id="152" name="R1 deadline">
            <a:extLst xmlns:a="http://schemas.openxmlformats.org/drawingml/2006/main">
              <a:ext uri="{FF2B5EF4-FFF2-40B4-BE49-F238E27FC236}">
                <a16:creationId xmlns:a16="http://schemas.microsoft.com/office/drawing/2014/main" id="{F1CEA3F1-5D2D-49ED-BCD0-90EF936BD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7515225"/>
            <a:ext cx="9525" cy="1781175"/>
          </a:xfrm>
          <a:custGeom xmlns:a="http://schemas.openxmlformats.org/drawingml/2006/main">
            <a:pathLst>
              <a:path w="9525" h="1781175">
                <a:moveTo>
                  <a:pt x="0" y="0"/>
                </a:moveTo>
                <a:lnTo>
                  <a:pt x="0" y="1781175"/>
                </a:lnTo>
              </a:path>
            </a:pathLst>
          </a:custGeom>
          <a:noFill xmlns:a="http://schemas.openxmlformats.org/drawingml/2006/main"/>
          <a:ln xmlns:a="http://schemas.openxmlformats.org/drawingml/2006/main" w="26670">
            <a:solidFill>
              <a:srgbClr val="F21D24"/>
            </a:solidFill>
            <a:prstDash val="dash"/>
          </a:ln>
        </p:spPr>
      </p:sp>
      <p:sp>
        <p:nvSpPr>
          <p:cNvPr id="153" name="line-52">
            <a:extLst xmlns:a="http://schemas.openxmlformats.org/drawingml/2006/main">
              <a:ext uri="{FF2B5EF4-FFF2-40B4-BE49-F238E27FC236}">
                <a16:creationId xmlns:a16="http://schemas.microsoft.com/office/drawing/2014/main" id="{56D9E0AD-ACB8-4111-A816-5C75F0DAB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7943850"/>
            <a:ext cx="228600" cy="228600"/>
          </a:xfrm>
          <a:custGeom xmlns:a="http://schemas.openxmlformats.org/drawingml/2006/main">
            <a:pathLst>
              <a:path w="228600" h="228600">
                <a:moveTo>
                  <a:pt x="0" y="0"/>
                </a:moveTo>
                <a:lnTo>
                  <a:pt x="228600" y="228600"/>
                </a:lnTo>
              </a:path>
            </a:pathLst>
          </a:custGeom>
          <a:noFill xmlns:a="http://schemas.openxmlformats.org/drawingml/2006/main"/>
          <a:ln xmlns:a="http://schemas.openxmlformats.org/drawingml/2006/main" w="57150">
            <a:solidFill>
              <a:srgbClr val="F21D24"/>
            </a:solidFill>
            <a:prstDash val="solid"/>
          </a:ln>
        </p:spPr>
      </p:sp>
      <p:sp>
        <p:nvSpPr>
          <p:cNvPr id="154" name="line-53">
            <a:extLst xmlns:a="http://schemas.openxmlformats.org/drawingml/2006/main">
              <a:ext uri="{FF2B5EF4-FFF2-40B4-BE49-F238E27FC236}">
                <a16:creationId xmlns:a16="http://schemas.microsoft.com/office/drawing/2014/main" id="{F69CCF38-A2AD-462E-99BE-1DEEF967E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7943850"/>
            <a:ext cx="228600" cy="228600"/>
          </a:xfrm>
          <a:custGeom xmlns:a="http://schemas.openxmlformats.org/drawingml/2006/main">
            <a:pathLst>
              <a:path w="228600" h="228600">
                <a:moveTo>
                  <a:pt x="0" y="22860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57150">
            <a:solidFill>
              <a:srgbClr val="F21D24"/>
            </a:solidFill>
            <a:prstDash val="solid"/>
          </a:ln>
        </p:spPr>
      </p:sp>
      <p:sp>
        <p:nvSpPr>
          <p:cNvPr id="155" name="line-54">
            <a:extLst xmlns:a="http://schemas.openxmlformats.org/drawingml/2006/main">
              <a:ext uri="{FF2B5EF4-FFF2-40B4-BE49-F238E27FC236}">
                <a16:creationId xmlns:a16="http://schemas.microsoft.com/office/drawing/2014/main" id="{D9BC06FF-2467-4467-8DA7-471D38728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7943850"/>
            <a:ext cx="228600" cy="228600"/>
          </a:xfrm>
          <a:custGeom xmlns:a="http://schemas.openxmlformats.org/drawingml/2006/main">
            <a:pathLst>
              <a:path w="228600" h="228600">
                <a:moveTo>
                  <a:pt x="0" y="0"/>
                </a:moveTo>
                <a:lnTo>
                  <a:pt x="228600" y="228600"/>
                </a:lnTo>
              </a:path>
            </a:pathLst>
          </a:custGeom>
          <a:noFill xmlns:a="http://schemas.openxmlformats.org/drawingml/2006/main"/>
          <a:ln xmlns:a="http://schemas.openxmlformats.org/drawingml/2006/main" w="57150">
            <a:solidFill>
              <a:srgbClr val="F21D24"/>
            </a:solidFill>
            <a:prstDash val="solid"/>
          </a:ln>
        </p:spPr>
      </p:sp>
      <p:sp>
        <p:nvSpPr>
          <p:cNvPr id="156" name="line-55">
            <a:extLst xmlns:a="http://schemas.openxmlformats.org/drawingml/2006/main">
              <a:ext uri="{FF2B5EF4-FFF2-40B4-BE49-F238E27FC236}">
                <a16:creationId xmlns:a16="http://schemas.microsoft.com/office/drawing/2014/main" id="{86705285-54DF-4517-8B71-CFDE017BD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7943850"/>
            <a:ext cx="228600" cy="228600"/>
          </a:xfrm>
          <a:custGeom xmlns:a="http://schemas.openxmlformats.org/drawingml/2006/main">
            <a:pathLst>
              <a:path w="228600" h="228600">
                <a:moveTo>
                  <a:pt x="0" y="22860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57150">
            <a:solidFill>
              <a:srgbClr val="F21D24"/>
            </a:solidFill>
            <a:prstDash val="solid"/>
          </a:ln>
        </p:spPr>
      </p:sp>
      <p:sp>
        <p:nvSpPr>
          <p:cNvPr id="157" name="line-56">
            <a:extLst xmlns:a="http://schemas.openxmlformats.org/drawingml/2006/main">
              <a:ext uri="{FF2B5EF4-FFF2-40B4-BE49-F238E27FC236}">
                <a16:creationId xmlns:a16="http://schemas.microsoft.com/office/drawing/2014/main" id="{2186CBCC-29E8-40ED-AF74-3F2E94380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8852535"/>
            <a:ext cx="74676" cy="120015"/>
          </a:xfrm>
          <a:custGeom xmlns:a="http://schemas.openxmlformats.org/drawingml/2006/main">
            <a:pathLst>
              <a:path w="74676" h="120015">
                <a:moveTo>
                  <a:pt x="0" y="0"/>
                </a:moveTo>
                <a:lnTo>
                  <a:pt x="74676" y="120015"/>
                </a:lnTo>
              </a:path>
            </a:pathLst>
          </a:custGeom>
          <a:noFill xmlns:a="http://schemas.openxmlformats.org/drawingml/2006/main"/>
          <a:ln xmlns:a="http://schemas.openxmlformats.org/drawingml/2006/main" w="47625">
            <a:solidFill>
              <a:srgbClr val="149C81"/>
            </a:solidFill>
            <a:prstDash val="solid"/>
          </a:ln>
        </p:spPr>
      </p:sp>
      <p:sp>
        <p:nvSpPr>
          <p:cNvPr id="158" name="line-57">
            <a:extLst xmlns:a="http://schemas.openxmlformats.org/drawingml/2006/main">
              <a:ext uri="{FF2B5EF4-FFF2-40B4-BE49-F238E27FC236}">
                <a16:creationId xmlns:a16="http://schemas.microsoft.com/office/drawing/2014/main" id="{DD0C7B42-F84D-414B-BA72-A3C6719AE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2701" y="8705850"/>
            <a:ext cx="192024" cy="266700"/>
          </a:xfrm>
          <a:custGeom xmlns:a="http://schemas.openxmlformats.org/drawingml/2006/main">
            <a:pathLst>
              <a:path w="192024" h="266700">
                <a:moveTo>
                  <a:pt x="0" y="266700"/>
                </a:moveTo>
                <a:lnTo>
                  <a:pt x="192024" y="0"/>
                </a:lnTo>
              </a:path>
            </a:pathLst>
          </a:custGeom>
          <a:noFill xmlns:a="http://schemas.openxmlformats.org/drawingml/2006/main"/>
          <a:ln xmlns:a="http://schemas.openxmlformats.org/drawingml/2006/main" w="47625">
            <a:solidFill>
              <a:srgbClr val="149C81"/>
            </a:solidFill>
            <a:prstDash val="solid"/>
          </a:ln>
        </p:spPr>
      </p:sp>
      <p:sp>
        <p:nvSpPr>
          <p:cNvPr id="159" name="line-58">
            <a:extLst xmlns:a="http://schemas.openxmlformats.org/drawingml/2006/main">
              <a:ext uri="{FF2B5EF4-FFF2-40B4-BE49-F238E27FC236}">
                <a16:creationId xmlns:a16="http://schemas.microsoft.com/office/drawing/2014/main" id="{92B85E4A-7CB7-4E3F-8659-8FA7FF223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8852535"/>
            <a:ext cx="74676" cy="120015"/>
          </a:xfrm>
          <a:custGeom xmlns:a="http://schemas.openxmlformats.org/drawingml/2006/main">
            <a:pathLst>
              <a:path w="74676" h="120015">
                <a:moveTo>
                  <a:pt x="0" y="0"/>
                </a:moveTo>
                <a:lnTo>
                  <a:pt x="74676" y="120015"/>
                </a:lnTo>
              </a:path>
            </a:pathLst>
          </a:custGeom>
          <a:noFill xmlns:a="http://schemas.openxmlformats.org/drawingml/2006/main"/>
          <a:ln xmlns:a="http://schemas.openxmlformats.org/drawingml/2006/main" w="47625">
            <a:solidFill>
              <a:srgbClr val="149C81"/>
            </a:solidFill>
            <a:prstDash val="solid"/>
          </a:ln>
        </p:spPr>
      </p:sp>
      <p:sp>
        <p:nvSpPr>
          <p:cNvPr id="160" name="line-59">
            <a:extLst xmlns:a="http://schemas.openxmlformats.org/drawingml/2006/main">
              <a:ext uri="{FF2B5EF4-FFF2-40B4-BE49-F238E27FC236}">
                <a16:creationId xmlns:a16="http://schemas.microsoft.com/office/drawing/2014/main" id="{ABC75155-62FA-46CC-ACC5-E449B002E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8176" y="8705850"/>
            <a:ext cx="192024" cy="266700"/>
          </a:xfrm>
          <a:custGeom xmlns:a="http://schemas.openxmlformats.org/drawingml/2006/main">
            <a:pathLst>
              <a:path w="192024" h="266700">
                <a:moveTo>
                  <a:pt x="0" y="266700"/>
                </a:moveTo>
                <a:lnTo>
                  <a:pt x="192024" y="0"/>
                </a:lnTo>
              </a:path>
            </a:pathLst>
          </a:custGeom>
          <a:noFill xmlns:a="http://schemas.openxmlformats.org/drawingml/2006/main"/>
          <a:ln xmlns:a="http://schemas.openxmlformats.org/drawingml/2006/main" w="47625">
            <a:solidFill>
              <a:srgbClr val="149C81"/>
            </a:solidFill>
            <a:prstDash val="solid"/>
          </a:ln>
        </p:spPr>
      </p:sp>
      <p:sp>
        <p:nvSpPr>
          <p:cNvPr id="161" name=" stem">
            <a:extLst xmlns:a="http://schemas.openxmlformats.org/drawingml/2006/main">
              <a:ext uri="{FF2B5EF4-FFF2-40B4-BE49-F238E27FC236}">
                <a16:creationId xmlns:a16="http://schemas.microsoft.com/office/drawing/2014/main" id="{98654315-4D68-4E77-BEF9-C3EA8CFC8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9372600"/>
            <a:ext cx="5638800" cy="9525"/>
          </a:xfrm>
          <a:custGeom xmlns:a="http://schemas.openxmlformats.org/drawingml/2006/main">
            <a:pathLst>
              <a:path w="5638800" h="9525">
                <a:moveTo>
                  <a:pt x="0" y="0"/>
                </a:moveTo>
                <a:lnTo>
                  <a:pt x="5638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670">
            <a:solidFill>
              <a:srgbClr val="101010"/>
            </a:solidFill>
            <a:prstDash val="solid"/>
          </a:ln>
        </p:spPr>
      </p:sp>
      <p:sp>
        <p:nvSpPr>
          <p:cNvPr id="162" name=" arrowhead">
            <a:extLst xmlns:a="http://schemas.openxmlformats.org/drawingml/2006/main">
              <a:ext uri="{FF2B5EF4-FFF2-40B4-BE49-F238E27FC236}">
                <a16:creationId xmlns:a16="http://schemas.microsoft.com/office/drawing/2014/main" id="{6A3AD5E9-FE78-40C7-96CC-07F1FAD74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9281922"/>
            <a:ext cx="161925" cy="181356"/>
          </a:xfrm>
          <a:custGeom xmlns:a="http://schemas.openxmlformats.org/drawingml/2006/main">
            <a:pathLst>
              <a:path w="161925" h="181356">
                <a:moveTo>
                  <a:pt x="161925" y="90678"/>
                </a:moveTo>
                <a:lnTo>
                  <a:pt x="0" y="18135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01010"/>
          </a:solidFill>
          <a:ln xmlns:a="http://schemas.openxmlformats.org/drawingml/2006/main" w="0">
            <a:noFill/>
          </a:ln>
        </p:spPr>
      </p:sp>
      <p:sp>
        <p:nvSpPr>
          <p:cNvPr id="163" name="line-60">
            <a:extLst xmlns:a="http://schemas.openxmlformats.org/drawingml/2006/main">
              <a:ext uri="{FF2B5EF4-FFF2-40B4-BE49-F238E27FC236}">
                <a16:creationId xmlns:a16="http://schemas.microsoft.com/office/drawing/2014/main" id="{74E7D314-F2A9-4132-918B-C2F1BE0F7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9267825"/>
            <a:ext cx="9525" cy="209550"/>
          </a:xfrm>
          <a:custGeom xmlns:a="http://schemas.openxmlformats.org/drawingml/2006/main">
            <a:pathLst>
              <a:path w="9525" h="209550">
                <a:moveTo>
                  <a:pt x="0" y="0"/>
                </a:moveTo>
                <a:lnTo>
                  <a:pt x="0" y="20955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101010"/>
            </a:solidFill>
            <a:prstDash val="solid"/>
          </a:ln>
        </p:spPr>
      </p:sp>
      <p:sp>
        <p:nvSpPr>
          <p:cNvPr id="164" name="t">
            <a:extLst xmlns:a="http://schemas.openxmlformats.org/drawingml/2006/main">
              <a:ext uri="{FF2B5EF4-FFF2-40B4-BE49-F238E27FC236}">
                <a16:creationId xmlns:a16="http://schemas.microsoft.com/office/drawing/2014/main" id="{569C714F-8EEB-4EAB-9A68-8D47BCD3C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9429750"/>
            <a:ext cx="2571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625" b="1" i="1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25" b="1" i="1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rPr>
              <a:t>t</a:t>
            </a:r>
          </a:p>
        </p:txBody>
      </p:sp>
      <p:sp>
        <p:nvSpPr>
          <p:cNvPr id="165" name="0">
            <a:extLst xmlns:a="http://schemas.openxmlformats.org/drawingml/2006/main">
              <a:ext uri="{FF2B5EF4-FFF2-40B4-BE49-F238E27FC236}">
                <a16:creationId xmlns:a16="http://schemas.microsoft.com/office/drawing/2014/main" id="{3B17DBF0-C542-472F-8223-F3C360FA5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9610725"/>
            <a:ext cx="1809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rPr>
              <a:t>0</a:t>
            </a:r>
          </a:p>
        </p:txBody>
      </p:sp>
      <p:sp>
        <p:nvSpPr>
          <p:cNvPr id="166" name="Execution steps">
            <a:extLst xmlns:a="http://schemas.openxmlformats.org/drawingml/2006/main">
              <a:ext uri="{FF2B5EF4-FFF2-40B4-BE49-F238E27FC236}">
                <a16:creationId xmlns:a16="http://schemas.microsoft.com/office/drawing/2014/main" id="{32468622-E3B1-438E-91D5-7065FBB25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9210675"/>
            <a:ext cx="1809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0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rPr>
              <a:t>Execution steps</a:t>
            </a:r>
          </a:p>
        </p:txBody>
      </p:sp>
      <p:sp>
        <p:nvSpPr>
          <p:cNvPr id="167" name="Better ordering meets both TTFT deadlines">
            <a:extLst xmlns:a="http://schemas.openxmlformats.org/drawingml/2006/main">
              <a:ext uri="{FF2B5EF4-FFF2-40B4-BE49-F238E27FC236}">
                <a16:creationId xmlns:a16="http://schemas.microsoft.com/office/drawing/2014/main" id="{F7F71009-2DD3-4B2D-A5D2-518766701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9858375"/>
            <a:ext cx="80105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1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rPr>
              <a:t>Better ordering meets both TTFT deadlines</a:t>
            </a:r>
          </a:p>
        </p:txBody>
      </p:sp>
      <p:sp>
        <p:nvSpPr>
          <p:cNvPr id="168" name="Problem 2: Fixed budget ignores step time">
            <a:extLst xmlns:a="http://schemas.openxmlformats.org/drawingml/2006/main">
              <a:ext uri="{FF2B5EF4-FFF2-40B4-BE49-F238E27FC236}">
                <a16:creationId xmlns:a16="http://schemas.microsoft.com/office/drawing/2014/main" id="{BD0F91AE-66D0-4B22-91B8-11ADF5055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5848350"/>
            <a:ext cx="9334500" cy="4591050"/>
          </a:xfrm>
          <a:prstGeom xmlns:a="http://schemas.openxmlformats.org/drawingml/2006/main" prst="roundRect">
            <a:avLst>
              <a:gd name="adj" fmla="val 16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01010"/>
            </a:solidFill>
            <a:prstDash val="solid"/>
          </a:ln>
        </p:spPr>
      </p:sp>
      <p:sp>
        <p:nvSpPr>
          <p:cNvPr id="169" name="rect-61">
            <a:extLst xmlns:a="http://schemas.openxmlformats.org/drawingml/2006/main">
              <a:ext uri="{FF2B5EF4-FFF2-40B4-BE49-F238E27FC236}">
                <a16:creationId xmlns:a16="http://schemas.microsoft.com/office/drawing/2014/main" id="{E62F2B1B-52CA-46F5-82CF-63EEB97E2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5848350"/>
            <a:ext cx="9334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5EE"/>
          </a:solidFill>
          <a:ln xmlns:a="http://schemas.openxmlformats.org/drawingml/2006/main" w="22860">
            <a:solidFill>
              <a:srgbClr val="101010"/>
            </a:solidFill>
            <a:prstDash val="solid"/>
          </a:ln>
        </p:spPr>
      </p:sp>
      <p:sp>
        <p:nvSpPr>
          <p:cNvPr id="170" name="Problem 2: Fixed budget ignores step time">
            <a:extLst xmlns:a="http://schemas.openxmlformats.org/drawingml/2006/main">
              <a:ext uri="{FF2B5EF4-FFF2-40B4-BE49-F238E27FC236}">
                <a16:creationId xmlns:a16="http://schemas.microsoft.com/office/drawing/2014/main" id="{8F1F87EB-958F-4932-A712-99AE02AC6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5943600"/>
            <a:ext cx="85058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1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1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rPr>
              <a:t>Problem 2: Fixed budget ignores step time</a:t>
            </a:r>
          </a:p>
        </p:txBody>
      </p:sp>
      <p:sp>
        <p:nvSpPr>
          <p:cNvPr id="171" name="Token cap: 2048 (illustrative)">
            <a:extLst xmlns:a="http://schemas.openxmlformats.org/drawingml/2006/main">
              <a:ext uri="{FF2B5EF4-FFF2-40B4-BE49-F238E27FC236}">
                <a16:creationId xmlns:a16="http://schemas.microsoft.com/office/drawing/2014/main" id="{AE9F2906-5DA0-4B50-86D4-F69642340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87225" y="6505575"/>
            <a:ext cx="51149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0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0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rPr>
              <a:t>Token cap: 2048 (illustrative)</a:t>
            </a:r>
          </a:p>
        </p:txBody>
      </p:sp>
      <p:sp>
        <p:nvSpPr>
          <p:cNvPr id="172" name="Batch composition">
            <a:extLst xmlns:a="http://schemas.openxmlformats.org/drawingml/2006/main">
              <a:ext uri="{FF2B5EF4-FFF2-40B4-BE49-F238E27FC236}">
                <a16:creationId xmlns:a16="http://schemas.microsoft.com/office/drawing/2014/main" id="{4DC7C4B6-74D3-41CB-9898-FCCF25743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68150" y="691515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1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rPr>
              <a:t>Batch composition</a:t>
            </a:r>
          </a:p>
        </p:txBody>
      </p:sp>
      <p:sp>
        <p:nvSpPr>
          <p:cNvPr id="173" name="Step time">
            <a:extLst xmlns:a="http://schemas.openxmlformats.org/drawingml/2006/main">
              <a:ext uri="{FF2B5EF4-FFF2-40B4-BE49-F238E27FC236}">
                <a16:creationId xmlns:a16="http://schemas.microsoft.com/office/drawing/2014/main" id="{AFD3A291-BB5E-4951-A68B-73D0DD8F4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44875" y="6791325"/>
            <a:ext cx="22002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rPr>
              <a:t>Step time</a:t>
            </a:r>
          </a:p>
        </p:txBody>
      </p:sp>
      <p:sp>
        <p:nvSpPr>
          <p:cNvPr id="174" name="TPOT SLO">
            <a:extLst xmlns:a="http://schemas.openxmlformats.org/drawingml/2006/main">
              <a:ext uri="{FF2B5EF4-FFF2-40B4-BE49-F238E27FC236}">
                <a16:creationId xmlns:a16="http://schemas.microsoft.com/office/drawing/2014/main" id="{37BC9717-554B-4EF7-9BAE-6293DCC0A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83075" y="7077075"/>
            <a:ext cx="17811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rPr>
              <a:t>TPOT SLO</a:t>
            </a:r>
          </a:p>
        </p:txBody>
      </p:sp>
      <p:sp>
        <p:nvSpPr>
          <p:cNvPr id="175" name="1: Fill cap">
            <a:extLst xmlns:a="http://schemas.openxmlformats.org/drawingml/2006/main">
              <a:ext uri="{FF2B5EF4-FFF2-40B4-BE49-F238E27FC236}">
                <a16:creationId xmlns:a16="http://schemas.microsoft.com/office/drawing/2014/main" id="{282DD1B5-DACF-4419-B8C6-B0D32C18E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7505700"/>
            <a:ext cx="16859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1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rPr>
              <a:t>1: Fill cap</a:t>
            </a:r>
          </a:p>
        </p:txBody>
      </p:sp>
      <p:sp>
        <p:nvSpPr>
          <p:cNvPr id="176" name="2: Fewer tokens">
            <a:extLst xmlns:a="http://schemas.openxmlformats.org/drawingml/2006/main">
              <a:ext uri="{FF2B5EF4-FFF2-40B4-BE49-F238E27FC236}">
                <a16:creationId xmlns:a16="http://schemas.microsoft.com/office/drawing/2014/main" id="{B365107A-EA64-4EA2-860F-CFBA19C28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8153400"/>
            <a:ext cx="16859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rPr>
              <a:t>2: Fewer tokens</a:t>
            </a:r>
          </a:p>
        </p:txBody>
      </p:sp>
      <p:sp>
        <p:nvSpPr>
          <p:cNvPr id="177" name="3: Change P/D">
            <a:extLst xmlns:a="http://schemas.openxmlformats.org/drawingml/2006/main">
              <a:ext uri="{FF2B5EF4-FFF2-40B4-BE49-F238E27FC236}">
                <a16:creationId xmlns:a16="http://schemas.microsoft.com/office/drawing/2014/main" id="{D0AEB14D-5393-4F9E-B2EF-E93B38B39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8782050"/>
            <a:ext cx="16859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rPr>
              <a:t>3: Change P/D</a:t>
            </a:r>
          </a:p>
        </p:txBody>
      </p:sp>
      <p:sp>
        <p:nvSpPr>
          <p:cNvPr id="178" name="rect-62">
            <a:extLst xmlns:a="http://schemas.openxmlformats.org/drawingml/2006/main">
              <a:ext uri="{FF2B5EF4-FFF2-40B4-BE49-F238E27FC236}">
                <a16:creationId xmlns:a16="http://schemas.microsoft.com/office/drawing/2014/main" id="{D363DC5B-BA1B-4ADF-8DC4-77DD48CC1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8625" y="7505700"/>
            <a:ext cx="1371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3EE"/>
          </a:solidFill>
          <a:ln xmlns:a="http://schemas.openxmlformats.org/drawingml/2006/main" w="20955">
            <a:solidFill>
              <a:srgbClr val="101010"/>
            </a:solidFill>
            <a:prstDash val="solid"/>
          </a:ln>
        </p:spPr>
      </p:sp>
      <p:sp>
        <p:nvSpPr>
          <p:cNvPr id="179" name="rect-63">
            <a:extLst xmlns:a="http://schemas.openxmlformats.org/drawingml/2006/main">
              <a:ext uri="{FF2B5EF4-FFF2-40B4-BE49-F238E27FC236}">
                <a16:creationId xmlns:a16="http://schemas.microsoft.com/office/drawing/2014/main" id="{78155F86-62C2-4E61-8E06-A73E47DC8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0225" y="7505700"/>
            <a:ext cx="19716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8D8"/>
          </a:solidFill>
          <a:ln xmlns:a="http://schemas.openxmlformats.org/drawingml/2006/main" w="20955">
            <a:solidFill>
              <a:srgbClr val="101010"/>
            </a:solidFill>
            <a:prstDash val="solid"/>
          </a:ln>
        </p:spPr>
      </p:sp>
      <p:sp>
        <p:nvSpPr>
          <p:cNvPr id="180" name="D">
            <a:extLst xmlns:a="http://schemas.openxmlformats.org/drawingml/2006/main">
              <a:ext uri="{FF2B5EF4-FFF2-40B4-BE49-F238E27FC236}">
                <a16:creationId xmlns:a16="http://schemas.microsoft.com/office/drawing/2014/main" id="{836B953D-7777-4782-80EC-87A1B47BF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34825" y="7515225"/>
            <a:ext cx="12096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1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rPr>
              <a:t>D</a:t>
            </a:r>
          </a:p>
        </p:txBody>
      </p:sp>
      <p:sp>
        <p:nvSpPr>
          <p:cNvPr id="181" name="P">
            <a:extLst xmlns:a="http://schemas.openxmlformats.org/drawingml/2006/main">
              <a:ext uri="{FF2B5EF4-FFF2-40B4-BE49-F238E27FC236}">
                <a16:creationId xmlns:a16="http://schemas.microsoft.com/office/drawing/2014/main" id="{7AFAD589-22C2-4A60-BAD2-D083140E9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44525" y="7515225"/>
            <a:ext cx="1752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1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rPr>
              <a:t>P</a:t>
            </a:r>
          </a:p>
        </p:txBody>
      </p:sp>
      <p:sp>
        <p:nvSpPr>
          <p:cNvPr id="182" name="rect-64">
            <a:extLst xmlns:a="http://schemas.openxmlformats.org/drawingml/2006/main">
              <a:ext uri="{FF2B5EF4-FFF2-40B4-BE49-F238E27FC236}">
                <a16:creationId xmlns:a16="http://schemas.microsoft.com/office/drawing/2014/main" id="{AA3A9318-EF8B-4663-AEE9-F8CA97E75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8625" y="8143875"/>
            <a:ext cx="11811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3EE"/>
          </a:solidFill>
          <a:ln xmlns:a="http://schemas.openxmlformats.org/drawingml/2006/main" w="20955">
            <a:solidFill>
              <a:srgbClr val="101010"/>
            </a:solidFill>
            <a:prstDash val="solid"/>
          </a:ln>
        </p:spPr>
      </p:sp>
      <p:sp>
        <p:nvSpPr>
          <p:cNvPr id="183" name="rect-65">
            <a:extLst xmlns:a="http://schemas.openxmlformats.org/drawingml/2006/main">
              <a:ext uri="{FF2B5EF4-FFF2-40B4-BE49-F238E27FC236}">
                <a16:creationId xmlns:a16="http://schemas.microsoft.com/office/drawing/2014/main" id="{1637C714-A68D-46F2-ACA9-92C85F256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9725" y="8143875"/>
            <a:ext cx="104775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8D8"/>
          </a:solidFill>
          <a:ln xmlns:a="http://schemas.openxmlformats.org/drawingml/2006/main" w="20955">
            <a:solidFill>
              <a:srgbClr val="101010"/>
            </a:solidFill>
            <a:prstDash val="solid"/>
          </a:ln>
        </p:spPr>
      </p:sp>
      <p:sp>
        <p:nvSpPr>
          <p:cNvPr id="184" name="rect-66">
            <a:extLst xmlns:a="http://schemas.openxmlformats.org/drawingml/2006/main">
              <a:ext uri="{FF2B5EF4-FFF2-40B4-BE49-F238E27FC236}">
                <a16:creationId xmlns:a16="http://schemas.microsoft.com/office/drawing/2014/main" id="{2D4CFD21-A4DF-4247-B1A8-04B9EA792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87475" y="8143875"/>
            <a:ext cx="111442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101010"/>
            </a:solidFill>
            <a:prstDash val="solid"/>
          </a:ln>
        </p:spPr>
      </p:sp>
      <p:sp>
        <p:nvSpPr>
          <p:cNvPr id="185" name="D">
            <a:extLst xmlns:a="http://schemas.openxmlformats.org/drawingml/2006/main">
              <a:ext uri="{FF2B5EF4-FFF2-40B4-BE49-F238E27FC236}">
                <a16:creationId xmlns:a16="http://schemas.microsoft.com/office/drawing/2014/main" id="{74885FCC-A725-4024-A4FF-6BC766CA5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34825" y="8153400"/>
            <a:ext cx="10287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1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rPr>
              <a:t>D</a:t>
            </a:r>
          </a:p>
        </p:txBody>
      </p:sp>
      <p:sp>
        <p:nvSpPr>
          <p:cNvPr id="186" name="P">
            <a:extLst xmlns:a="http://schemas.openxmlformats.org/drawingml/2006/main">
              <a:ext uri="{FF2B5EF4-FFF2-40B4-BE49-F238E27FC236}">
                <a16:creationId xmlns:a16="http://schemas.microsoft.com/office/drawing/2014/main" id="{C5B89883-6CEC-41C5-B5C9-FC4F82BA9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77825" y="8153400"/>
            <a:ext cx="971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1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rPr>
              <a:t>P</a:t>
            </a:r>
          </a:p>
        </p:txBody>
      </p:sp>
      <p:sp>
        <p:nvSpPr>
          <p:cNvPr id="187" name="unused">
            <a:extLst xmlns:a="http://schemas.openxmlformats.org/drawingml/2006/main">
              <a:ext uri="{FF2B5EF4-FFF2-40B4-BE49-F238E27FC236}">
                <a16:creationId xmlns:a16="http://schemas.microsoft.com/office/drawing/2014/main" id="{13E0E7B0-D98E-4121-81B1-CB3CB74B7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54150" y="8153400"/>
            <a:ext cx="971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0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rPr>
              <a:t>unused</a:t>
            </a:r>
          </a:p>
        </p:txBody>
      </p:sp>
      <p:sp>
        <p:nvSpPr>
          <p:cNvPr id="188" name="rect-67">
            <a:extLst xmlns:a="http://schemas.openxmlformats.org/drawingml/2006/main">
              <a:ext uri="{FF2B5EF4-FFF2-40B4-BE49-F238E27FC236}">
                <a16:creationId xmlns:a16="http://schemas.microsoft.com/office/drawing/2014/main" id="{020524E5-2378-4582-9709-5851D2264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8625" y="8772525"/>
            <a:ext cx="203835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3EE"/>
          </a:solidFill>
          <a:ln xmlns:a="http://schemas.openxmlformats.org/drawingml/2006/main" w="20955">
            <a:solidFill>
              <a:srgbClr val="101010"/>
            </a:solidFill>
            <a:prstDash val="solid"/>
          </a:ln>
        </p:spPr>
      </p:sp>
      <p:sp>
        <p:nvSpPr>
          <p:cNvPr id="189" name="rect-68">
            <a:extLst xmlns:a="http://schemas.openxmlformats.org/drawingml/2006/main">
              <a:ext uri="{FF2B5EF4-FFF2-40B4-BE49-F238E27FC236}">
                <a16:creationId xmlns:a16="http://schemas.microsoft.com/office/drawing/2014/main" id="{6CA90FE8-44A8-4C3E-9D83-C521ACB5F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96975" y="8772525"/>
            <a:ext cx="130492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8D8"/>
          </a:solidFill>
          <a:ln xmlns:a="http://schemas.openxmlformats.org/drawingml/2006/main" w="20955">
            <a:solidFill>
              <a:srgbClr val="101010"/>
            </a:solidFill>
            <a:prstDash val="solid"/>
          </a:ln>
        </p:spPr>
      </p:sp>
      <p:sp>
        <p:nvSpPr>
          <p:cNvPr id="190" name="D">
            <a:extLst xmlns:a="http://schemas.openxmlformats.org/drawingml/2006/main">
              <a:ext uri="{FF2B5EF4-FFF2-40B4-BE49-F238E27FC236}">
                <a16:creationId xmlns:a16="http://schemas.microsoft.com/office/drawing/2014/main" id="{4FBD156B-9EF8-4CE3-B0B0-C608028AD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34825" y="8782050"/>
            <a:ext cx="18859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1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rPr>
              <a:t>D</a:t>
            </a:r>
          </a:p>
        </p:txBody>
      </p:sp>
      <p:sp>
        <p:nvSpPr>
          <p:cNvPr id="191" name="P">
            <a:extLst xmlns:a="http://schemas.openxmlformats.org/drawingml/2006/main">
              <a:ext uri="{FF2B5EF4-FFF2-40B4-BE49-F238E27FC236}">
                <a16:creationId xmlns:a16="http://schemas.microsoft.com/office/drawing/2014/main" id="{105182F1-E2D2-44EF-B6ED-1437E4576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4125" y="8782050"/>
            <a:ext cx="11906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1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rPr>
              <a:t>P</a:t>
            </a:r>
          </a:p>
        </p:txBody>
      </p:sp>
      <p:sp>
        <p:nvSpPr>
          <p:cNvPr id="192" name="line-69">
            <a:extLst xmlns:a="http://schemas.openxmlformats.org/drawingml/2006/main">
              <a:ext uri="{FF2B5EF4-FFF2-40B4-BE49-F238E27FC236}">
                <a16:creationId xmlns:a16="http://schemas.microsoft.com/office/drawing/2014/main" id="{676CC91D-6D7F-4882-83C0-C19BAD4A5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06700" y="7410450"/>
            <a:ext cx="9525" cy="1847850"/>
          </a:xfrm>
          <a:custGeom xmlns:a="http://schemas.openxmlformats.org/drawingml/2006/main">
            <a:pathLst>
              <a:path w="9525" h="1847850">
                <a:moveTo>
                  <a:pt x="0" y="0"/>
                </a:moveTo>
                <a:lnTo>
                  <a:pt x="0" y="18478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01010"/>
            </a:solidFill>
            <a:prstDash val="solid"/>
          </a:ln>
        </p:spPr>
      </p:sp>
      <p:sp>
        <p:nvSpPr>
          <p:cNvPr id="193" name="rect-70">
            <a:extLst xmlns:a="http://schemas.openxmlformats.org/drawingml/2006/main">
              <a:ext uri="{FF2B5EF4-FFF2-40B4-BE49-F238E27FC236}">
                <a16:creationId xmlns:a16="http://schemas.microsoft.com/office/drawing/2014/main" id="{DED8A7AD-2407-4430-9BCF-73137B368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06700" y="7505700"/>
            <a:ext cx="3067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1F8"/>
          </a:solidFill>
          <a:ln xmlns:a="http://schemas.openxmlformats.org/drawingml/2006/main" w="20955">
            <a:solidFill>
              <a:srgbClr val="101010"/>
            </a:solidFill>
            <a:prstDash val="solid"/>
          </a:ln>
        </p:spPr>
      </p:sp>
      <p:sp>
        <p:nvSpPr>
          <p:cNvPr id="194" name="rect-71">
            <a:extLst xmlns:a="http://schemas.openxmlformats.org/drawingml/2006/main">
              <a:ext uri="{FF2B5EF4-FFF2-40B4-BE49-F238E27FC236}">
                <a16:creationId xmlns:a16="http://schemas.microsoft.com/office/drawing/2014/main" id="{2097C6DB-77E1-4EA2-A4AC-00397C90F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06700" y="8143875"/>
            <a:ext cx="153352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1F8"/>
          </a:solidFill>
          <a:ln xmlns:a="http://schemas.openxmlformats.org/drawingml/2006/main" w="20955">
            <a:solidFill>
              <a:srgbClr val="101010"/>
            </a:solidFill>
            <a:prstDash val="solid"/>
          </a:ln>
        </p:spPr>
      </p:sp>
      <p:sp>
        <p:nvSpPr>
          <p:cNvPr id="195" name="rect-72">
            <a:extLst xmlns:a="http://schemas.openxmlformats.org/drawingml/2006/main">
              <a:ext uri="{FF2B5EF4-FFF2-40B4-BE49-F238E27FC236}">
                <a16:creationId xmlns:a16="http://schemas.microsoft.com/office/drawing/2014/main" id="{C4839CC3-A9CF-4C57-889C-6E51AEA17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06700" y="8772525"/>
            <a:ext cx="176212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1F8"/>
          </a:solidFill>
          <a:ln xmlns:a="http://schemas.openxmlformats.org/drawingml/2006/main" w="20955">
            <a:solidFill>
              <a:srgbClr val="101010"/>
            </a:solidFill>
            <a:prstDash val="solid"/>
          </a:ln>
        </p:spPr>
      </p:sp>
      <p:sp>
        <p:nvSpPr>
          <p:cNvPr id="196" name="TPOT SLO deadline">
            <a:extLst xmlns:a="http://schemas.openxmlformats.org/drawingml/2006/main">
              <a:ext uri="{FF2B5EF4-FFF2-40B4-BE49-F238E27FC236}">
                <a16:creationId xmlns:a16="http://schemas.microsoft.com/office/drawing/2014/main" id="{A502269B-6D53-4646-9881-8BBABCB7C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59375" y="7400925"/>
            <a:ext cx="9525" cy="1933575"/>
          </a:xfrm>
          <a:custGeom xmlns:a="http://schemas.openxmlformats.org/drawingml/2006/main">
            <a:pathLst>
              <a:path w="9525" h="1933575">
                <a:moveTo>
                  <a:pt x="0" y="0"/>
                </a:moveTo>
                <a:lnTo>
                  <a:pt x="0" y="1933575"/>
                </a:lnTo>
              </a:path>
            </a:pathLst>
          </a:custGeom>
          <a:noFill xmlns:a="http://schemas.openxmlformats.org/drawingml/2006/main"/>
          <a:ln xmlns:a="http://schemas.openxmlformats.org/drawingml/2006/main" w="26670">
            <a:solidFill>
              <a:srgbClr val="F21D24"/>
            </a:solidFill>
            <a:prstDash val="dash"/>
          </a:ln>
        </p:spPr>
      </p:sp>
      <p:sp>
        <p:nvSpPr>
          <p:cNvPr id="197" name="line-73">
            <a:extLst xmlns:a="http://schemas.openxmlformats.org/drawingml/2006/main">
              <a:ext uri="{FF2B5EF4-FFF2-40B4-BE49-F238E27FC236}">
                <a16:creationId xmlns:a16="http://schemas.microsoft.com/office/drawing/2014/main" id="{51C9495E-173D-4918-BDB3-87184BA67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88050" y="7572375"/>
            <a:ext cx="228600" cy="228600"/>
          </a:xfrm>
          <a:custGeom xmlns:a="http://schemas.openxmlformats.org/drawingml/2006/main">
            <a:pathLst>
              <a:path w="228600" h="228600">
                <a:moveTo>
                  <a:pt x="0" y="0"/>
                </a:moveTo>
                <a:lnTo>
                  <a:pt x="228600" y="228600"/>
                </a:lnTo>
              </a:path>
            </a:pathLst>
          </a:custGeom>
          <a:noFill xmlns:a="http://schemas.openxmlformats.org/drawingml/2006/main"/>
          <a:ln xmlns:a="http://schemas.openxmlformats.org/drawingml/2006/main" w="57150">
            <a:solidFill>
              <a:srgbClr val="F21D24"/>
            </a:solidFill>
            <a:prstDash val="solid"/>
          </a:ln>
        </p:spPr>
      </p:sp>
      <p:sp>
        <p:nvSpPr>
          <p:cNvPr id="198" name="line-74">
            <a:extLst xmlns:a="http://schemas.openxmlformats.org/drawingml/2006/main">
              <a:ext uri="{FF2B5EF4-FFF2-40B4-BE49-F238E27FC236}">
                <a16:creationId xmlns:a16="http://schemas.microsoft.com/office/drawing/2014/main" id="{282DA8AD-F828-4CA1-BFE4-6B390C12B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88050" y="7572375"/>
            <a:ext cx="228600" cy="228600"/>
          </a:xfrm>
          <a:custGeom xmlns:a="http://schemas.openxmlformats.org/drawingml/2006/main">
            <a:pathLst>
              <a:path w="228600" h="228600">
                <a:moveTo>
                  <a:pt x="0" y="22860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57150">
            <a:solidFill>
              <a:srgbClr val="F21D24"/>
            </a:solidFill>
            <a:prstDash val="solid"/>
          </a:ln>
        </p:spPr>
      </p:sp>
      <p:sp>
        <p:nvSpPr>
          <p:cNvPr id="199" name="line-75">
            <a:extLst xmlns:a="http://schemas.openxmlformats.org/drawingml/2006/main">
              <a:ext uri="{FF2B5EF4-FFF2-40B4-BE49-F238E27FC236}">
                <a16:creationId xmlns:a16="http://schemas.microsoft.com/office/drawing/2014/main" id="{4D15C95F-89A4-40B8-B2A1-568B1B3B0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92625" y="8313896"/>
            <a:ext cx="72009" cy="115729"/>
          </a:xfrm>
          <a:custGeom xmlns:a="http://schemas.openxmlformats.org/drawingml/2006/main">
            <a:pathLst>
              <a:path w="72009" h="115729">
                <a:moveTo>
                  <a:pt x="0" y="0"/>
                </a:moveTo>
                <a:lnTo>
                  <a:pt x="72009" y="115729"/>
                </a:lnTo>
              </a:path>
            </a:pathLst>
          </a:custGeom>
          <a:noFill xmlns:a="http://schemas.openxmlformats.org/drawingml/2006/main"/>
          <a:ln xmlns:a="http://schemas.openxmlformats.org/drawingml/2006/main" w="47625">
            <a:solidFill>
              <a:srgbClr val="149C81"/>
            </a:solidFill>
            <a:prstDash val="solid"/>
          </a:ln>
        </p:spPr>
      </p:sp>
      <p:sp>
        <p:nvSpPr>
          <p:cNvPr id="200" name="line-76">
            <a:extLst xmlns:a="http://schemas.openxmlformats.org/drawingml/2006/main">
              <a:ext uri="{FF2B5EF4-FFF2-40B4-BE49-F238E27FC236}">
                <a16:creationId xmlns:a16="http://schemas.microsoft.com/office/drawing/2014/main" id="{06DA16F5-536F-449B-88D2-25B41416A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64634" y="8172450"/>
            <a:ext cx="185166" cy="257175"/>
          </a:xfrm>
          <a:custGeom xmlns:a="http://schemas.openxmlformats.org/drawingml/2006/main">
            <a:pathLst>
              <a:path w="185166" h="257175">
                <a:moveTo>
                  <a:pt x="0" y="257175"/>
                </a:moveTo>
                <a:lnTo>
                  <a:pt x="185166" y="0"/>
                </a:lnTo>
              </a:path>
            </a:pathLst>
          </a:custGeom>
          <a:noFill xmlns:a="http://schemas.openxmlformats.org/drawingml/2006/main"/>
          <a:ln xmlns:a="http://schemas.openxmlformats.org/drawingml/2006/main" w="47625">
            <a:solidFill>
              <a:srgbClr val="149C81"/>
            </a:solidFill>
            <a:prstDash val="solid"/>
          </a:ln>
        </p:spPr>
      </p:sp>
      <p:sp>
        <p:nvSpPr>
          <p:cNvPr id="201" name="line-77">
            <a:extLst xmlns:a="http://schemas.openxmlformats.org/drawingml/2006/main">
              <a:ext uri="{FF2B5EF4-FFF2-40B4-BE49-F238E27FC236}">
                <a16:creationId xmlns:a16="http://schemas.microsoft.com/office/drawing/2014/main" id="{E5735F56-A16E-488B-94AC-343298E33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02175" y="8961596"/>
            <a:ext cx="72009" cy="115729"/>
          </a:xfrm>
          <a:custGeom xmlns:a="http://schemas.openxmlformats.org/drawingml/2006/main">
            <a:pathLst>
              <a:path w="72009" h="115729">
                <a:moveTo>
                  <a:pt x="0" y="0"/>
                </a:moveTo>
                <a:lnTo>
                  <a:pt x="72009" y="115729"/>
                </a:lnTo>
              </a:path>
            </a:pathLst>
          </a:custGeom>
          <a:noFill xmlns:a="http://schemas.openxmlformats.org/drawingml/2006/main"/>
          <a:ln xmlns:a="http://schemas.openxmlformats.org/drawingml/2006/main" w="47625">
            <a:solidFill>
              <a:srgbClr val="149C81"/>
            </a:solidFill>
            <a:prstDash val="solid"/>
          </a:ln>
        </p:spPr>
      </p:sp>
      <p:sp>
        <p:nvSpPr>
          <p:cNvPr id="202" name="line-78">
            <a:extLst xmlns:a="http://schemas.openxmlformats.org/drawingml/2006/main">
              <a:ext uri="{FF2B5EF4-FFF2-40B4-BE49-F238E27FC236}">
                <a16:creationId xmlns:a16="http://schemas.microsoft.com/office/drawing/2014/main" id="{D9F4E1EE-AD7D-4E42-8D03-975BF5215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74184" y="8820150"/>
            <a:ext cx="185166" cy="257175"/>
          </a:xfrm>
          <a:custGeom xmlns:a="http://schemas.openxmlformats.org/drawingml/2006/main">
            <a:pathLst>
              <a:path w="185166" h="257175">
                <a:moveTo>
                  <a:pt x="0" y="257175"/>
                </a:moveTo>
                <a:lnTo>
                  <a:pt x="185166" y="0"/>
                </a:lnTo>
              </a:path>
            </a:pathLst>
          </a:custGeom>
          <a:noFill xmlns:a="http://schemas.openxmlformats.org/drawingml/2006/main"/>
          <a:ln xmlns:a="http://schemas.openxmlformats.org/drawingml/2006/main" w="47625">
            <a:solidFill>
              <a:srgbClr val="149C81"/>
            </a:solidFill>
            <a:prstDash val="solid"/>
          </a:ln>
        </p:spPr>
      </p:sp>
      <p:sp>
        <p:nvSpPr>
          <p:cNvPr id="203" name="rect-79">
            <a:extLst xmlns:a="http://schemas.openxmlformats.org/drawingml/2006/main">
              <a:ext uri="{FF2B5EF4-FFF2-40B4-BE49-F238E27FC236}">
                <a16:creationId xmlns:a16="http://schemas.microsoft.com/office/drawing/2014/main" id="{89A9F8B8-BD3C-4055-ACEA-F31550B6D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11075" y="9458325"/>
            <a:ext cx="3619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3EE"/>
          </a:solidFill>
          <a:ln xmlns:a="http://schemas.openxmlformats.org/drawingml/2006/main" w="20955">
            <a:solidFill>
              <a:srgbClr val="101010"/>
            </a:solidFill>
            <a:prstDash val="solid"/>
          </a:ln>
        </p:spPr>
      </p:sp>
      <p:sp>
        <p:nvSpPr>
          <p:cNvPr id="204" name="Decode">
            <a:extLst xmlns:a="http://schemas.openxmlformats.org/drawingml/2006/main">
              <a:ext uri="{FF2B5EF4-FFF2-40B4-BE49-F238E27FC236}">
                <a16:creationId xmlns:a16="http://schemas.microsoft.com/office/drawing/2014/main" id="{F610D8BE-FAA4-460E-BEFA-D8167633C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77800" y="9429750"/>
            <a:ext cx="104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0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rPr>
              <a:t>Decode</a:t>
            </a:r>
          </a:p>
        </p:txBody>
      </p:sp>
      <p:sp>
        <p:nvSpPr>
          <p:cNvPr id="205" name="rect-80">
            <a:extLst xmlns:a="http://schemas.openxmlformats.org/drawingml/2006/main">
              <a:ext uri="{FF2B5EF4-FFF2-40B4-BE49-F238E27FC236}">
                <a16:creationId xmlns:a16="http://schemas.microsoft.com/office/drawing/2014/main" id="{96C4DBDC-0504-476C-A551-5639EE1B4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11275" y="9458325"/>
            <a:ext cx="3619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8D8"/>
          </a:solidFill>
          <a:ln xmlns:a="http://schemas.openxmlformats.org/drawingml/2006/main" w="20955">
            <a:solidFill>
              <a:srgbClr val="101010"/>
            </a:solidFill>
            <a:prstDash val="solid"/>
          </a:ln>
        </p:spPr>
      </p:sp>
      <p:sp>
        <p:nvSpPr>
          <p:cNvPr id="206" name="Prefill">
            <a:extLst xmlns:a="http://schemas.openxmlformats.org/drawingml/2006/main">
              <a:ext uri="{FF2B5EF4-FFF2-40B4-BE49-F238E27FC236}">
                <a16:creationId xmlns:a16="http://schemas.microsoft.com/office/drawing/2014/main" id="{4CF1CBC2-9A78-4BB2-B167-0548A0B52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68475" y="9429750"/>
            <a:ext cx="104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0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rPr>
              <a:t>Prefill</a:t>
            </a:r>
          </a:p>
        </p:txBody>
      </p:sp>
      <p:sp>
        <p:nvSpPr>
          <p:cNvPr id="207" name="rect-81">
            <a:extLst xmlns:a="http://schemas.openxmlformats.org/drawingml/2006/main">
              <a:ext uri="{FF2B5EF4-FFF2-40B4-BE49-F238E27FC236}">
                <a16:creationId xmlns:a16="http://schemas.microsoft.com/office/drawing/2014/main" id="{44CBFA5E-1787-4695-8B18-346AAE390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21025" y="9458325"/>
            <a:ext cx="3619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1F8"/>
          </a:solidFill>
          <a:ln xmlns:a="http://schemas.openxmlformats.org/drawingml/2006/main" w="20955">
            <a:solidFill>
              <a:srgbClr val="101010"/>
            </a:solidFill>
            <a:prstDash val="solid"/>
          </a:ln>
        </p:spPr>
      </p:sp>
      <p:sp>
        <p:nvSpPr>
          <p:cNvPr id="208" name="Illustrative; workload-dependent">
            <a:extLst xmlns:a="http://schemas.openxmlformats.org/drawingml/2006/main">
              <a:ext uri="{FF2B5EF4-FFF2-40B4-BE49-F238E27FC236}">
                <a16:creationId xmlns:a16="http://schemas.microsoft.com/office/drawing/2014/main" id="{5F6E194E-A999-419B-97F0-F4C084EBC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54425" y="9429750"/>
            <a:ext cx="27908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rPr>
              <a:t>Illustrative; workload-dependent</a:t>
            </a:r>
          </a:p>
        </p:txBody>
      </p:sp>
      <p:sp>
        <p:nvSpPr>
          <p:cNvPr id="209" name="Token count and P/D mix jointly affect TPOT">
            <a:extLst xmlns:a="http://schemas.openxmlformats.org/drawingml/2006/main">
              <a:ext uri="{FF2B5EF4-FFF2-40B4-BE49-F238E27FC236}">
                <a16:creationId xmlns:a16="http://schemas.microsoft.com/office/drawing/2014/main" id="{6EE9334E-3A43-49EA-AA04-F35FAA40A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9858375"/>
            <a:ext cx="80867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1" i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rPr>
              <a:t>Token count and P/D mix jointly affect TPOT</a:t>
            </a:r>
          </a:p>
        </p:txBody>
      </p:sp>
    </p:spTree>
    <p:extLst>
      <p:ext uri="{BB962C8B-B14F-4D97-AF65-F5344CB8AC3E}">
        <p14:creationId xmlns:p14="http://schemas.microsoft.com/office/powerpoint/2010/main" val="59757017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2026-10-05T02:37:02.0920000Z</dcterms:created>
  <dcterms:modified xsi:type="dcterms:W3CDTF">2026-10-05T02:37:02.0920000Z</dcterms:modified>
</coreProperties>
</file>